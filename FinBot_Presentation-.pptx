
<file path=[Content_Types].xml><?xml version="1.0" encoding="utf-8"?>
<Types xmlns="http://schemas.openxmlformats.org/package/2006/content-types"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ppt/webextensions/taskpanes.xml" ContentType="application/vnd.ms-office.webextensiontaskpanes+xml"/>
  <Override PartName="/ppt/webextensions/webextension1.xml" ContentType="application/vnd.ms-office.webextension+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charts/chart1.xml" ContentType="application/vnd.openxmlformats-officedocument.drawingml.chart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officeDocument/2006/relationships/officeDocument" Target="ppt/presentation.xml"/><Relationship Id="rId1" Type="http://schemas.microsoft.com/office/2011/relationships/webextensiontaskpanes" Target="ppt/webextensions/taskpanes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50" r:id="rId1"/>
  </p:sldMasterIdLst>
  <p:notesMasterIdLst>
    <p:notesMasterId r:id="rId17"/>
  </p:notesMasterIdLst>
  <p:sldIdLst>
    <p:sldId id="290" r:id="rId2"/>
    <p:sldId id="291" r:id="rId3"/>
    <p:sldId id="292" r:id="rId4"/>
    <p:sldId id="293" r:id="rId5"/>
    <p:sldId id="294" r:id="rId6"/>
    <p:sldId id="295" r:id="rId7"/>
    <p:sldId id="296" r:id="rId8"/>
    <p:sldId id="297" r:id="rId9"/>
    <p:sldId id="298" r:id="rId10"/>
    <p:sldId id="299" r:id="rId11"/>
    <p:sldId id="300" r:id="rId12"/>
    <p:sldId id="301" r:id="rId13"/>
    <p:sldId id="302" r:id="rId14"/>
    <p:sldId id="303" r:id="rId15"/>
    <p:sldId id="304" r:id="rId16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25309" autoAdjust="0"/>
    <p:restoredTop sz="94610"/>
  </p:normalViewPr>
  <p:slideViewPr>
    <p:cSldViewPr snapToGrid="0" snapToObjects="1">
      <p:cViewPr>
        <p:scale>
          <a:sx n="66" d="100"/>
          <a:sy n="66" d="100"/>
        </p:scale>
        <p:origin x="908" y="48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presProps" Target="presProps.xml"/><Relationship Id="rId3" Type="http://schemas.openxmlformats.org/officeDocument/2006/relationships/slide" Target="slides/slide2.xml"/><Relationship Id="rId21" Type="http://schemas.openxmlformats.org/officeDocument/2006/relationships/tableStyles" Target="tableStyle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charts/_rels/chart1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c:style val="2"/>
  <c:chart>
    <c:autoTitleDeleted val="1"/>
    <c:plotArea>
      <c:layout/>
      <c:barChart>
        <c:barDir val="bar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Score out of 5</c:v>
                </c:pt>
              </c:strCache>
            </c:strRef>
          </c:tx>
          <c:spPr>
            <a:solidFill>
              <a:srgbClr val="0D9488"/>
            </a:solidFill>
            <a:effectLst/>
          </c:spPr>
          <c:invertIfNegative val="0"/>
          <c:dLbls>
            <c:numFmt formatCode="#,##0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1100" b="0" i="0" u="none" strike="noStrike">
                    <a:solidFill>
                      <a:srgbClr val="FFFFFF"/>
                    </a:solidFill>
                    <a:latin typeface="Arial"/>
                  </a:defRPr>
                </a:pPr>
                <a:endParaRPr lang="en-US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Sheet1!$A$2:$A$6</c:f>
              <c:strCache>
                <c:ptCount val="5"/>
                <c:pt idx="0">
                  <c:v>Easy to Use</c:v>
                </c:pt>
                <c:pt idx="1">
                  <c:v>Helpful Answers</c:v>
                </c:pt>
                <c:pt idx="2">
                  <c:v>Topics Discoverable</c:v>
                </c:pt>
                <c:pt idx="3">
                  <c:v>Understood Me</c:v>
                </c:pt>
                <c:pt idx="4">
                  <c:v>Looks Professional</c:v>
                </c:pt>
              </c:strCache>
            </c:strRef>
          </c:cat>
          <c:val>
            <c:numRef>
              <c:f>Sheet1!$B$2:$B$6</c:f>
              <c:numCache>
                <c:formatCode>General</c:formatCode>
                <c:ptCount val="5"/>
                <c:pt idx="0">
                  <c:v>4.5999999999999996</c:v>
                </c:pt>
                <c:pt idx="1">
                  <c:v>4.2</c:v>
                </c:pt>
                <c:pt idx="2">
                  <c:v>4.8</c:v>
                </c:pt>
                <c:pt idx="3">
                  <c:v>4</c:v>
                </c:pt>
                <c:pt idx="4">
                  <c:v>4.8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BEC0-4204-A2F5-54BBDF38CC79}"/>
            </c:ext>
          </c:extLst>
        </c:ser>
        <c:dLbls>
          <c:showLegendKey val="0"/>
          <c:showVal val="1"/>
          <c:showCatName val="0"/>
          <c:showSerName val="0"/>
          <c:showPercent val="0"/>
          <c:showBubbleSize val="0"/>
        </c:dLbls>
        <c:gapWidth val="150"/>
        <c:axId val="2094734554"/>
        <c:axId val="2094734552"/>
      </c:barChart>
      <c:catAx>
        <c:axId val="2094734554"/>
        <c:scaling>
          <c:orientation val="minMax"/>
        </c:scaling>
        <c:delete val="0"/>
        <c:axPos val="l"/>
        <c:numFmt formatCode="General" sourceLinked="1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94A3B8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  <c:max val="5"/>
          <c:min val="0"/>
        </c:scaling>
        <c:delete val="0"/>
        <c:axPos val="b"/>
        <c:majorGridlines>
          <c:spPr>
            <a:ln w="6350" cap="flat">
              <a:solidFill>
                <a:srgbClr val="1E3A5F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94A3B8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  <c:showDLblsOverMax val="1"/>
  </c:chart>
  <c:spPr>
    <a:solidFill>
      <a:srgbClr val="152040"/>
    </a:solidFill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84025570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DEFAUL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AF8F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0" name="AccentLine"/>
          <p:cNvSpPr/>
          <p:nvPr/>
        </p:nvSpPr>
        <p:spPr>
          <a:xfrm>
            <a:off x="457200" y="5029200"/>
            <a:ext cx="8229600" cy="27432"/>
          </a:xfrm>
          <a:prstGeom prst="rect">
            <a:avLst/>
          </a:prstGeom>
          <a:solidFill>
            <a:srgbClr val="B87333">
              <a:alpha val="40000"/>
            </a:srgbClr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901" name="CornerAccent"/>
          <p:cNvSpPr/>
          <p:nvPr/>
        </p:nvSpPr>
        <p:spPr>
          <a:xfrm>
            <a:off x="8458200" y="4800600"/>
            <a:ext cx="457200" cy="457200"/>
          </a:xfrm>
          <a:prstGeom prst="rect">
            <a:avLst/>
          </a:prstGeom>
          <a:noFill/>
          <a:ln w="12700">
            <a:solidFill>
              <a:srgbClr val="B87333">
                <a:alpha val="25000"/>
              </a:srgbClr>
            </a:solidFill>
          </a:ln>
        </p:spPr>
        <p:txBody>
          <a:bodyPr/>
          <a:lstStyle/>
          <a:p>
            <a:endParaRPr lang="en-US"/>
          </a:p>
        </p:txBody>
      </p:sp>
      <p:sp>
        <p:nvSpPr>
          <p:cNvPr id="902" name="CornerAccent2"/>
          <p:cNvSpPr/>
          <p:nvPr/>
        </p:nvSpPr>
        <p:spPr>
          <a:xfrm>
            <a:off x="8686800" y="4572000"/>
            <a:ext cx="342900" cy="342900"/>
          </a:xfrm>
          <a:prstGeom prst="rect">
            <a:avLst/>
          </a:prstGeom>
          <a:solidFill>
            <a:srgbClr val="B87333">
              <a:alpha val="12000"/>
            </a:srgbClr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51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rgbClr val="2D2D2D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rgbClr val="4A4A4A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rgbClr val="4A4A4A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rgbClr val="4A4A4A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rgbClr val="4A4A4A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rgbClr val="4A4A4A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rgbClr val="4A4A4A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rgbClr val="4A4A4A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rgbClr val="4A4A4A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rgbClr val="4A4A4A"/>
          </a:solidFill>
          <a:latin typeface="+mn-lt"/>
          <a:ea typeface="+mn-ea"/>
          <a:cs typeface="+mn-cs"/>
        </a:defRPr>
      </a:lvl9pPr>
    </p:bodyStyle>
    <p:otherStyle>
      <a:defPPr>
        <a:defRPr lang="en-US">
          <a:solidFill>
            <a:srgbClr val="4A4A4A"/>
          </a:solidFill>
        </a:defRPr>
      </a:defPPr>
      <a:lvl1pPr marL="0" algn="l" defTabSz="914400" rtl="0" eaLnBrk="1" latinLnBrk="0" hangingPunct="1">
        <a:defRPr sz="1800" kern="1200">
          <a:solidFill>
            <a:srgbClr val="4A4A4A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rgbClr val="4A4A4A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rgbClr val="4A4A4A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rgbClr val="4A4A4A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rgbClr val="4A4A4A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rgbClr val="4A4A4A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rgbClr val="4A4A4A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rgbClr val="4A4A4A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rgbClr val="4A4A4A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chart" Target="../charts/chart1.xml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AF8F5">
            <a:alpha val="100000"/>
          </a:srgb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73152" cy="5143500"/>
          </a:xfrm>
          <a:prstGeom prst="rect">
            <a:avLst/>
          </a:prstGeom>
          <a:solidFill>
            <a:srgbClr val="B87333"/>
          </a:solidFill>
          <a:ln w="12700">
            <a:solidFill>
              <a:srgbClr val="B87333"/>
            </a:solidFill>
            <a:prstDash val="solid"/>
          </a:ln>
        </p:spPr>
        <p:txBody>
          <a:bodyPr/>
          <a:lstStyle/>
          <a:p>
            <a:endParaRPr lang="en-IN">
              <a:solidFill>
                <a:srgbClr val="FFFFFF"/>
              </a:solidFill>
            </a:endParaRPr>
          </a:p>
        </p:txBody>
      </p:sp>
      <p:sp>
        <p:nvSpPr>
          <p:cNvPr id="3" name="Shape 1"/>
          <p:cNvSpPr/>
          <p:nvPr/>
        </p:nvSpPr>
        <p:spPr>
          <a:xfrm>
            <a:off x="6583680" y="-1097280"/>
            <a:ext cx="4114800" cy="4114800"/>
          </a:xfrm>
          <a:prstGeom prst="ellipse">
            <a:avLst/>
          </a:prstGeom>
          <a:solidFill>
            <a:srgbClr val="B87333">
              <a:alpha val="11765"/>
            </a:srgbClr>
          </a:solidFill>
          <a:ln w="12700">
            <a:solidFill>
              <a:srgbClr val="B87333">
                <a:alpha val="30000"/>
              </a:srgbClr>
            </a:solidFill>
            <a:prstDash val="solid"/>
          </a:ln>
        </p:spPr>
        <p:txBody>
          <a:bodyPr/>
          <a:lstStyle/>
          <a:p>
            <a:endParaRPr lang="en-IN">
              <a:solidFill>
                <a:srgbClr val="FFFFFF"/>
              </a:solidFill>
            </a:endParaRPr>
          </a:p>
        </p:txBody>
      </p:sp>
      <p:sp>
        <p:nvSpPr>
          <p:cNvPr id="4" name="Shape 2"/>
          <p:cNvSpPr/>
          <p:nvPr/>
        </p:nvSpPr>
        <p:spPr>
          <a:xfrm>
            <a:off x="7132320" y="-548640"/>
            <a:ext cx="2926080" cy="2926080"/>
          </a:xfrm>
          <a:prstGeom prst="ellipse">
            <a:avLst/>
          </a:prstGeom>
          <a:solidFill>
            <a:srgbClr val="B87333">
              <a:alpha val="7843"/>
            </a:srgbClr>
          </a:solidFill>
          <a:ln w="12700">
            <a:solidFill>
              <a:srgbClr val="B87333">
                <a:alpha val="20000"/>
              </a:srgbClr>
            </a:solidFill>
            <a:prstDash val="solid"/>
          </a:ln>
        </p:spPr>
        <p:txBody>
          <a:bodyPr/>
          <a:lstStyle/>
          <a:p>
            <a:endParaRPr lang="en-IN">
              <a:solidFill>
                <a:srgbClr val="FFFFFF"/>
              </a:solidFill>
            </a:endParaRPr>
          </a:p>
        </p:txBody>
      </p:sp>
      <p:sp>
        <p:nvSpPr>
          <p:cNvPr id="5" name="Shape 3"/>
          <p:cNvSpPr/>
          <p:nvPr/>
        </p:nvSpPr>
        <p:spPr>
          <a:xfrm>
            <a:off x="548640" y="502920"/>
            <a:ext cx="914400" cy="914400"/>
          </a:xfrm>
          <a:prstGeom prst="roundRect">
            <a:avLst>
              <a:gd name="adj" fmla="val 18000"/>
            </a:avLst>
          </a:prstGeom>
          <a:solidFill>
            <a:srgbClr val="B87333"/>
          </a:solidFill>
          <a:ln w="12700">
            <a:solidFill>
              <a:srgbClr val="B87333"/>
            </a:solidFill>
            <a:prstDash val="solid"/>
          </a:ln>
        </p:spPr>
        <p:txBody>
          <a:bodyPr/>
          <a:lstStyle/>
          <a:p>
            <a:endParaRPr lang="en-IN">
              <a:solidFill>
                <a:srgbClr val="FFFFFF"/>
              </a:solidFill>
            </a:endParaRPr>
          </a:p>
        </p:txBody>
      </p:sp>
      <p:sp>
        <p:nvSpPr>
          <p:cNvPr id="6" name="Text 4"/>
          <p:cNvSpPr/>
          <p:nvPr/>
        </p:nvSpPr>
        <p:spPr>
          <a:xfrm>
            <a:off x="548640" y="475488"/>
            <a:ext cx="9144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endParaRPr lang="en-US" sz="3200" dirty="0"/>
          </a:p>
        </p:txBody>
      </p:sp>
      <p:sp>
        <p:nvSpPr>
          <p:cNvPr id="7" name="Text 5"/>
          <p:cNvSpPr/>
          <p:nvPr/>
        </p:nvSpPr>
        <p:spPr>
          <a:xfrm>
            <a:off x="1600200" y="475488"/>
            <a:ext cx="68580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5200" b="1" kern="0" spc="200" dirty="0">
                <a:solidFill>
                  <a:srgbClr val="2D2D2D"/>
                </a:solidFill>
                <a:latin typeface="Georgia" pitchFamily="34" charset="0"/>
                <a:ea typeface="Segoe UI" pitchFamily="34" charset="-122"/>
                <a:cs typeface="Segoe UI" pitchFamily="34" charset="-120"/>
              </a:rPr>
              <a:t>FinBot</a:t>
            </a:r>
            <a:endParaRPr lang="en-US" sz="5200" dirty="0"/>
          </a:p>
        </p:txBody>
      </p:sp>
      <p:sp>
        <p:nvSpPr>
          <p:cNvPr id="8" name="Text 6"/>
          <p:cNvSpPr/>
          <p:nvPr/>
        </p:nvSpPr>
        <p:spPr>
          <a:xfrm>
            <a:off x="1600200" y="1298448"/>
            <a:ext cx="6583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B8733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Natural Language Interface for Finance Infrastructure</a:t>
            </a:r>
            <a:endParaRPr lang="en-US" sz="1600" dirty="0"/>
          </a:p>
        </p:txBody>
      </p:sp>
      <p:sp>
        <p:nvSpPr>
          <p:cNvPr id="9" name="Shape 7"/>
          <p:cNvSpPr/>
          <p:nvPr/>
        </p:nvSpPr>
        <p:spPr>
          <a:xfrm>
            <a:off x="1600200" y="1874520"/>
            <a:ext cx="5943600" cy="36576"/>
          </a:xfrm>
          <a:prstGeom prst="rect">
            <a:avLst/>
          </a:prstGeom>
          <a:solidFill>
            <a:srgbClr val="B87333">
              <a:alpha val="60000"/>
            </a:srgbClr>
          </a:solidFill>
          <a:ln w="12700">
            <a:solidFill>
              <a:srgbClr val="B87333">
                <a:alpha val="60000"/>
              </a:srgbClr>
            </a:solidFill>
            <a:prstDash val="solid"/>
          </a:ln>
        </p:spPr>
        <p:txBody>
          <a:bodyPr/>
          <a:lstStyle/>
          <a:p>
            <a:endParaRPr lang="en-IN">
              <a:solidFill>
                <a:srgbClr val="FFFFFF"/>
              </a:solidFill>
            </a:endParaRPr>
          </a:p>
        </p:txBody>
      </p:sp>
      <p:sp>
        <p:nvSpPr>
          <p:cNvPr id="10" name="Shape 8"/>
          <p:cNvSpPr/>
          <p:nvPr/>
        </p:nvSpPr>
        <p:spPr>
          <a:xfrm>
            <a:off x="1600200" y="2029968"/>
            <a:ext cx="402336" cy="347472"/>
          </a:xfrm>
          <a:prstGeom prst="rect">
            <a:avLst/>
          </a:prstGeom>
          <a:solidFill>
            <a:srgbClr val="B87333">
              <a:alpha val="24706"/>
            </a:srgbClr>
          </a:solidFill>
          <a:ln w="12700">
            <a:solidFill>
              <a:srgbClr val="B87333">
                <a:alpha val="40000"/>
              </a:srgbClr>
            </a:solidFill>
            <a:prstDash val="solid"/>
          </a:ln>
        </p:spPr>
        <p:txBody>
          <a:bodyPr/>
          <a:lstStyle/>
          <a:p>
            <a:endParaRPr lang="en-IN">
              <a:solidFill>
                <a:srgbClr val="FFFFFF"/>
              </a:solidFill>
            </a:endParaRPr>
          </a:p>
        </p:txBody>
      </p:sp>
      <p:sp>
        <p:nvSpPr>
          <p:cNvPr id="11" name="Text 9"/>
          <p:cNvSpPr/>
          <p:nvPr/>
        </p:nvSpPr>
        <p:spPr>
          <a:xfrm>
            <a:off x="1600200" y="2011680"/>
            <a:ext cx="402336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dirty="0">
                <a:solidFill>
                  <a:srgbClr val="FFFFFF"/>
                </a:solidFill>
              </a:rPr>
              <a:t>+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2084832" y="2029968"/>
            <a:ext cx="10972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B7B6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Student</a:t>
            </a:r>
            <a:endParaRPr lang="en-US" sz="1000" dirty="0"/>
          </a:p>
        </p:txBody>
      </p:sp>
      <p:sp>
        <p:nvSpPr>
          <p:cNvPr id="13" name="Text 11"/>
          <p:cNvSpPr/>
          <p:nvPr/>
        </p:nvSpPr>
        <p:spPr>
          <a:xfrm>
            <a:off x="3127248" y="2029968"/>
            <a:ext cx="53035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2D2D2D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Fathima Rahda V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1600200" y="2542032"/>
            <a:ext cx="402336" cy="347472"/>
          </a:xfrm>
          <a:prstGeom prst="rect">
            <a:avLst/>
          </a:prstGeom>
          <a:solidFill>
            <a:srgbClr val="B87333">
              <a:alpha val="24706"/>
            </a:srgbClr>
          </a:solidFill>
          <a:ln w="12700">
            <a:solidFill>
              <a:srgbClr val="B87333">
                <a:alpha val="40000"/>
              </a:srgbClr>
            </a:solidFill>
            <a:prstDash val="solid"/>
          </a:ln>
        </p:spPr>
        <p:txBody>
          <a:bodyPr/>
          <a:lstStyle/>
          <a:p>
            <a:pPr algn="ctr"/>
            <a:r>
              <a:rPr lang="en-US">
                <a:solidFill>
                  <a:srgbClr val="FFFFFF"/>
                </a:solidFill>
              </a:rPr>
              <a:t>+</a:t>
            </a:r>
            <a:endParaRPr lang="en-US" dirty="0"/>
          </a:p>
        </p:txBody>
      </p:sp>
      <p:sp>
        <p:nvSpPr>
          <p:cNvPr id="15" name="Text 13"/>
          <p:cNvSpPr/>
          <p:nvPr/>
        </p:nvSpPr>
        <p:spPr>
          <a:xfrm>
            <a:off x="1600200" y="2523744"/>
            <a:ext cx="402336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endParaRPr lang="en-US" sz="1600" dirty="0"/>
          </a:p>
        </p:txBody>
      </p:sp>
      <p:sp>
        <p:nvSpPr>
          <p:cNvPr id="16" name="Text 14"/>
          <p:cNvSpPr/>
          <p:nvPr/>
        </p:nvSpPr>
        <p:spPr>
          <a:xfrm>
            <a:off x="2084832" y="2542032"/>
            <a:ext cx="10972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B7B6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Programme</a:t>
            </a:r>
            <a:endParaRPr lang="en-US" sz="1000" dirty="0"/>
          </a:p>
        </p:txBody>
      </p:sp>
      <p:sp>
        <p:nvSpPr>
          <p:cNvPr id="17" name="Text 15"/>
          <p:cNvSpPr/>
          <p:nvPr/>
        </p:nvSpPr>
        <p:spPr>
          <a:xfrm>
            <a:off x="3127248" y="2542032"/>
            <a:ext cx="53035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2D2D2D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BCA — AI, Cloud Computing &amp; DevOps</a:t>
            </a:r>
            <a:endParaRPr lang="en-US" sz="1200" dirty="0"/>
          </a:p>
        </p:txBody>
      </p:sp>
      <p:sp>
        <p:nvSpPr>
          <p:cNvPr id="18" name="Shape 16"/>
          <p:cNvSpPr/>
          <p:nvPr/>
        </p:nvSpPr>
        <p:spPr>
          <a:xfrm>
            <a:off x="1600200" y="3054096"/>
            <a:ext cx="402336" cy="347472"/>
          </a:xfrm>
          <a:prstGeom prst="rect">
            <a:avLst/>
          </a:prstGeom>
          <a:solidFill>
            <a:srgbClr val="B87333">
              <a:alpha val="24706"/>
            </a:srgbClr>
          </a:solidFill>
          <a:ln w="12700">
            <a:solidFill>
              <a:srgbClr val="B87333">
                <a:alpha val="40000"/>
              </a:srgbClr>
            </a:solidFill>
            <a:prstDash val="solid"/>
          </a:ln>
        </p:spPr>
        <p:txBody>
          <a:bodyPr/>
          <a:lstStyle/>
          <a:p>
            <a:pPr algn="ctr"/>
            <a:r>
              <a:rPr lang="en-US">
                <a:solidFill>
                  <a:srgbClr val="FFFFFF"/>
                </a:solidFill>
              </a:rPr>
              <a:t>+</a:t>
            </a:r>
            <a:endParaRPr lang="en-US" dirty="0"/>
          </a:p>
        </p:txBody>
      </p:sp>
      <p:sp>
        <p:nvSpPr>
          <p:cNvPr id="19" name="Text 17"/>
          <p:cNvSpPr/>
          <p:nvPr/>
        </p:nvSpPr>
        <p:spPr>
          <a:xfrm>
            <a:off x="1600200" y="3035808"/>
            <a:ext cx="402336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endParaRPr lang="en-US" sz="1600" dirty="0"/>
          </a:p>
        </p:txBody>
      </p:sp>
      <p:sp>
        <p:nvSpPr>
          <p:cNvPr id="20" name="Text 18"/>
          <p:cNvSpPr/>
          <p:nvPr/>
        </p:nvSpPr>
        <p:spPr>
          <a:xfrm>
            <a:off x="2084832" y="3054096"/>
            <a:ext cx="10972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B7B6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Guide</a:t>
            </a:r>
            <a:endParaRPr lang="en-US" sz="1000" dirty="0"/>
          </a:p>
        </p:txBody>
      </p:sp>
      <p:sp>
        <p:nvSpPr>
          <p:cNvPr id="21" name="Text 19"/>
          <p:cNvSpPr/>
          <p:nvPr/>
        </p:nvSpPr>
        <p:spPr>
          <a:xfrm>
            <a:off x="3127248" y="3054096"/>
            <a:ext cx="53035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2D2D2D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Mr. Praveen</a:t>
            </a:r>
            <a:endParaRPr lang="en-US" sz="1200" dirty="0"/>
          </a:p>
        </p:txBody>
      </p:sp>
      <p:sp>
        <p:nvSpPr>
          <p:cNvPr id="22" name="Shape 20"/>
          <p:cNvSpPr/>
          <p:nvPr/>
        </p:nvSpPr>
        <p:spPr>
          <a:xfrm>
            <a:off x="1600200" y="3566160"/>
            <a:ext cx="402336" cy="347472"/>
          </a:xfrm>
          <a:prstGeom prst="rect">
            <a:avLst/>
          </a:prstGeom>
          <a:solidFill>
            <a:srgbClr val="B87333">
              <a:alpha val="24706"/>
            </a:srgbClr>
          </a:solidFill>
          <a:ln w="12700">
            <a:solidFill>
              <a:srgbClr val="B87333">
                <a:alpha val="40000"/>
              </a:srgbClr>
            </a:solidFill>
            <a:prstDash val="solid"/>
          </a:ln>
        </p:spPr>
        <p:txBody>
          <a:bodyPr/>
          <a:lstStyle/>
          <a:p>
            <a:endParaRPr lang="en-IN">
              <a:solidFill>
                <a:srgbClr val="FFFFFF"/>
              </a:solidFill>
            </a:endParaRPr>
          </a:p>
        </p:txBody>
      </p:sp>
      <p:sp>
        <p:nvSpPr>
          <p:cNvPr id="23" name="Text 21"/>
          <p:cNvSpPr/>
          <p:nvPr/>
        </p:nvSpPr>
        <p:spPr>
          <a:xfrm>
            <a:off x="1600200" y="3547872"/>
            <a:ext cx="402336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/>
            <a:r>
              <a:rPr lang="en-US" sz="1600" dirty="0">
                <a:solidFill>
                  <a:srgbClr val="FFFFFF"/>
                </a:solidFill>
              </a:rPr>
              <a:t>+</a:t>
            </a:r>
            <a:endParaRPr lang="en-US" sz="1600" dirty="0"/>
          </a:p>
        </p:txBody>
      </p:sp>
      <p:sp>
        <p:nvSpPr>
          <p:cNvPr id="24" name="Text 22"/>
          <p:cNvSpPr/>
          <p:nvPr/>
        </p:nvSpPr>
        <p:spPr>
          <a:xfrm>
            <a:off x="2084832" y="3566160"/>
            <a:ext cx="10972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B7B6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Programme</a:t>
            </a:r>
            <a:endParaRPr lang="en-US" sz="1000" dirty="0"/>
          </a:p>
        </p:txBody>
      </p:sp>
      <p:sp>
        <p:nvSpPr>
          <p:cNvPr id="25" name="Text 23"/>
          <p:cNvSpPr/>
          <p:nvPr/>
        </p:nvSpPr>
        <p:spPr>
          <a:xfrm>
            <a:off x="3127248" y="3566160"/>
            <a:ext cx="53035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2D2D2D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IBM Innovation Centre for Education — 2026</a:t>
            </a:r>
            <a:endParaRPr lang="en-US" sz="1200" dirty="0"/>
          </a:p>
        </p:txBody>
      </p:sp>
      <p:sp>
        <p:nvSpPr>
          <p:cNvPr id="26" name="Shape 24"/>
          <p:cNvSpPr/>
          <p:nvPr/>
        </p:nvSpPr>
        <p:spPr>
          <a:xfrm>
            <a:off x="0" y="4773168"/>
            <a:ext cx="9144000" cy="384048"/>
          </a:xfrm>
          <a:prstGeom prst="rect">
            <a:avLst/>
          </a:prstGeom>
          <a:solidFill>
            <a:srgbClr val="B87333"/>
          </a:solidFill>
          <a:ln w="12700">
            <a:solidFill>
              <a:srgbClr val="B87333"/>
            </a:solidFill>
            <a:prstDash val="solid"/>
          </a:ln>
        </p:spPr>
        <p:txBody>
          <a:bodyPr/>
          <a:lstStyle/>
          <a:p>
            <a:endParaRPr lang="en-IN">
              <a:solidFill>
                <a:srgbClr val="FFFFFF"/>
              </a:solidFill>
            </a:endParaRPr>
          </a:p>
        </p:txBody>
      </p:sp>
      <p:sp>
        <p:nvSpPr>
          <p:cNvPr id="27" name="Text 25"/>
          <p:cNvSpPr/>
          <p:nvPr/>
        </p:nvSpPr>
        <p:spPr>
          <a:xfrm>
            <a:off x="182880" y="4773168"/>
            <a:ext cx="87782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2D2D2D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Yenepoya Institute of Arts, Science, Commerce and Management  ·  Natural Language Interface for Finance Infrastructure</a:t>
            </a:r>
            <a:endParaRPr lang="en-US" sz="900" dirty="0"/>
          </a:p>
        </p:txBody>
      </p:sp>
    </p:spTree>
    <p:extLst>
      <p:ext uri="{BB962C8B-B14F-4D97-AF65-F5344CB8AC3E}">
        <p14:creationId xmlns:p14="http://schemas.microsoft.com/office/powerpoint/2010/main" val="167619328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AF8F5">
            <a:alpha val="100000"/>
          </a:srgb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73152" cy="5143500"/>
          </a:xfrm>
          <a:prstGeom prst="rect">
            <a:avLst/>
          </a:prstGeom>
          <a:solidFill>
            <a:srgbClr val="B87333"/>
          </a:solidFill>
          <a:ln w="12700">
            <a:solidFill>
              <a:srgbClr val="B87333"/>
            </a:solidFill>
            <a:prstDash val="solid"/>
          </a:ln>
        </p:spPr>
        <p:txBody>
          <a:bodyPr/>
          <a:lstStyle/>
          <a:p>
            <a:endParaRPr lang="en-IN">
              <a:solidFill>
                <a:srgbClr val="FFFFFF"/>
              </a:solidFill>
            </a:endParaRPr>
          </a:p>
        </p:txBody>
      </p:sp>
      <p:sp>
        <p:nvSpPr>
          <p:cNvPr id="3" name="Text 1"/>
          <p:cNvSpPr/>
          <p:nvPr/>
        </p:nvSpPr>
        <p:spPr>
          <a:xfrm>
            <a:off x="365760" y="256032"/>
            <a:ext cx="84124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2D2D2D"/>
                </a:solidFill>
                <a:latin typeface="Georgia" pitchFamily="34" charset="0"/>
                <a:ea typeface="Segoe UI" pitchFamily="34" charset="-122"/>
                <a:cs typeface="Segoe UI" pitchFamily="34" charset="-120"/>
              </a:rPr>
              <a:t>Presentation Agenda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320040" y="1005840"/>
            <a:ext cx="4160520" cy="548640"/>
          </a:xfrm>
          <a:prstGeom prst="rect">
            <a:avLst/>
          </a:prstGeom>
          <a:solidFill>
            <a:srgbClr val="F0EDE8"/>
          </a:solidFill>
          <a:ln w="12700">
            <a:solidFill>
              <a:srgbClr val="B87333">
                <a:alpha val="30000"/>
              </a:srgbClr>
            </a:solidFill>
            <a:prstDash val="solid"/>
          </a:ln>
          <a:effectLst>
            <a:outerShdw blurRad="101600" dist="38100" dir="8100000" algn="bl" rotWithShape="0">
              <a:srgbClr val="000000">
                <a:alpha val="25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5" name="Shape 3"/>
          <p:cNvSpPr/>
          <p:nvPr/>
        </p:nvSpPr>
        <p:spPr>
          <a:xfrm>
            <a:off x="320040" y="1005840"/>
            <a:ext cx="475488" cy="548640"/>
          </a:xfrm>
          <a:prstGeom prst="rect">
            <a:avLst/>
          </a:prstGeom>
          <a:solidFill>
            <a:srgbClr val="B87333"/>
          </a:solidFill>
          <a:ln w="12700">
            <a:solidFill>
              <a:srgbClr val="B87333"/>
            </a:solidFill>
            <a:prstDash val="solid"/>
          </a:ln>
        </p:spPr>
        <p:txBody>
          <a:bodyPr/>
          <a:lstStyle/>
          <a:p>
            <a:endParaRPr lang="en-IN">
              <a:solidFill>
                <a:srgbClr val="FFFFFF"/>
              </a:solidFill>
            </a:endParaRPr>
          </a:p>
        </p:txBody>
      </p:sp>
      <p:sp>
        <p:nvSpPr>
          <p:cNvPr id="6" name="Text 4"/>
          <p:cNvSpPr/>
          <p:nvPr/>
        </p:nvSpPr>
        <p:spPr>
          <a:xfrm>
            <a:off x="320040" y="1005840"/>
            <a:ext cx="47548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01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850392" y="1042416"/>
            <a:ext cx="354787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2D2D2D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Problem Statement &amp; Motivation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850392" y="1298448"/>
            <a:ext cx="354787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B7B6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Why FinBot was built</a:t>
            </a:r>
            <a:endParaRPr lang="en-US" sz="900" dirty="0"/>
          </a:p>
        </p:txBody>
      </p:sp>
      <p:sp>
        <p:nvSpPr>
          <p:cNvPr id="9" name="Shape 7"/>
          <p:cNvSpPr/>
          <p:nvPr/>
        </p:nvSpPr>
        <p:spPr>
          <a:xfrm>
            <a:off x="320040" y="1673352"/>
            <a:ext cx="4160520" cy="548640"/>
          </a:xfrm>
          <a:prstGeom prst="rect">
            <a:avLst/>
          </a:prstGeom>
          <a:solidFill>
            <a:srgbClr val="F0EDE8"/>
          </a:solidFill>
          <a:ln w="12700">
            <a:solidFill>
              <a:srgbClr val="B87333">
                <a:alpha val="30000"/>
              </a:srgbClr>
            </a:solidFill>
            <a:prstDash val="solid"/>
          </a:ln>
          <a:effectLst>
            <a:outerShdw blurRad="101600" dist="38100" dir="8100000" algn="bl" rotWithShape="0">
              <a:srgbClr val="000000">
                <a:alpha val="25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10" name="Shape 8"/>
          <p:cNvSpPr/>
          <p:nvPr/>
        </p:nvSpPr>
        <p:spPr>
          <a:xfrm>
            <a:off x="320040" y="1673352"/>
            <a:ext cx="475488" cy="548640"/>
          </a:xfrm>
          <a:prstGeom prst="rect">
            <a:avLst/>
          </a:prstGeom>
          <a:solidFill>
            <a:srgbClr val="B87333"/>
          </a:solidFill>
          <a:ln w="12700">
            <a:solidFill>
              <a:srgbClr val="B87333"/>
            </a:solidFill>
            <a:prstDash val="solid"/>
          </a:ln>
        </p:spPr>
        <p:txBody>
          <a:bodyPr/>
          <a:lstStyle/>
          <a:p>
            <a:endParaRPr lang="en-IN">
              <a:solidFill>
                <a:srgbClr val="FFFFFF"/>
              </a:solidFill>
            </a:endParaRPr>
          </a:p>
        </p:txBody>
      </p:sp>
      <p:sp>
        <p:nvSpPr>
          <p:cNvPr id="11" name="Text 9"/>
          <p:cNvSpPr/>
          <p:nvPr/>
        </p:nvSpPr>
        <p:spPr>
          <a:xfrm>
            <a:off x="320040" y="1673352"/>
            <a:ext cx="47548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02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850392" y="1709928"/>
            <a:ext cx="354787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2D2D2D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Project Objectives &amp; Aim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850392" y="1965960"/>
            <a:ext cx="354787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B7B6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What we set out to achieve</a:t>
            </a:r>
            <a:endParaRPr lang="en-US" sz="900" dirty="0"/>
          </a:p>
        </p:txBody>
      </p:sp>
      <p:sp>
        <p:nvSpPr>
          <p:cNvPr id="14" name="Shape 12"/>
          <p:cNvSpPr/>
          <p:nvPr/>
        </p:nvSpPr>
        <p:spPr>
          <a:xfrm>
            <a:off x="320040" y="2340864"/>
            <a:ext cx="4160520" cy="548640"/>
          </a:xfrm>
          <a:prstGeom prst="rect">
            <a:avLst/>
          </a:prstGeom>
          <a:solidFill>
            <a:srgbClr val="F0EDE8"/>
          </a:solidFill>
          <a:ln w="12700">
            <a:solidFill>
              <a:srgbClr val="B87333">
                <a:alpha val="30000"/>
              </a:srgbClr>
            </a:solidFill>
            <a:prstDash val="solid"/>
          </a:ln>
          <a:effectLst>
            <a:outerShdw blurRad="101600" dist="38100" dir="8100000" algn="bl" rotWithShape="0">
              <a:srgbClr val="000000">
                <a:alpha val="25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15" name="Shape 13"/>
          <p:cNvSpPr/>
          <p:nvPr/>
        </p:nvSpPr>
        <p:spPr>
          <a:xfrm>
            <a:off x="320040" y="2340864"/>
            <a:ext cx="475488" cy="548640"/>
          </a:xfrm>
          <a:prstGeom prst="rect">
            <a:avLst/>
          </a:prstGeom>
          <a:solidFill>
            <a:srgbClr val="B87333"/>
          </a:solidFill>
          <a:ln w="12700">
            <a:solidFill>
              <a:srgbClr val="B87333"/>
            </a:solidFill>
            <a:prstDash val="solid"/>
          </a:ln>
        </p:spPr>
        <p:txBody>
          <a:bodyPr/>
          <a:lstStyle/>
          <a:p>
            <a:endParaRPr lang="en-IN">
              <a:solidFill>
                <a:srgbClr val="FFFFFF"/>
              </a:solidFill>
            </a:endParaRPr>
          </a:p>
        </p:txBody>
      </p:sp>
      <p:sp>
        <p:nvSpPr>
          <p:cNvPr id="16" name="Text 14"/>
          <p:cNvSpPr/>
          <p:nvPr/>
        </p:nvSpPr>
        <p:spPr>
          <a:xfrm>
            <a:off x="320040" y="2340864"/>
            <a:ext cx="47548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03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850392" y="2377440"/>
            <a:ext cx="354787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2D2D2D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Technology Stack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850392" y="2633472"/>
            <a:ext cx="354787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B7B6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Python, Flask, HTML/CSS/JS</a:t>
            </a:r>
            <a:endParaRPr lang="en-US" sz="900" dirty="0"/>
          </a:p>
        </p:txBody>
      </p:sp>
      <p:sp>
        <p:nvSpPr>
          <p:cNvPr id="19" name="Shape 17"/>
          <p:cNvSpPr/>
          <p:nvPr/>
        </p:nvSpPr>
        <p:spPr>
          <a:xfrm>
            <a:off x="320040" y="3008376"/>
            <a:ext cx="4160520" cy="548640"/>
          </a:xfrm>
          <a:prstGeom prst="rect">
            <a:avLst/>
          </a:prstGeom>
          <a:solidFill>
            <a:srgbClr val="F0EDE8"/>
          </a:solidFill>
          <a:ln w="12700">
            <a:solidFill>
              <a:srgbClr val="B87333">
                <a:alpha val="30000"/>
              </a:srgbClr>
            </a:solidFill>
            <a:prstDash val="solid"/>
          </a:ln>
          <a:effectLst>
            <a:outerShdw blurRad="101600" dist="38100" dir="8100000" algn="bl" rotWithShape="0">
              <a:srgbClr val="000000">
                <a:alpha val="25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20" name="Shape 18"/>
          <p:cNvSpPr/>
          <p:nvPr/>
        </p:nvSpPr>
        <p:spPr>
          <a:xfrm>
            <a:off x="320040" y="3008376"/>
            <a:ext cx="475488" cy="548640"/>
          </a:xfrm>
          <a:prstGeom prst="rect">
            <a:avLst/>
          </a:prstGeom>
          <a:solidFill>
            <a:srgbClr val="B87333"/>
          </a:solidFill>
          <a:ln w="12700">
            <a:solidFill>
              <a:srgbClr val="B87333"/>
            </a:solidFill>
            <a:prstDash val="solid"/>
          </a:ln>
        </p:spPr>
        <p:txBody>
          <a:bodyPr/>
          <a:lstStyle/>
          <a:p>
            <a:endParaRPr lang="en-IN">
              <a:solidFill>
                <a:srgbClr val="FFFFFF"/>
              </a:solidFill>
            </a:endParaRPr>
          </a:p>
        </p:txBody>
      </p:sp>
      <p:sp>
        <p:nvSpPr>
          <p:cNvPr id="21" name="Text 19"/>
          <p:cNvSpPr/>
          <p:nvPr/>
        </p:nvSpPr>
        <p:spPr>
          <a:xfrm>
            <a:off x="320040" y="3008376"/>
            <a:ext cx="47548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04</a:t>
            </a:r>
            <a:endParaRPr lang="en-US" sz="1300" dirty="0"/>
          </a:p>
        </p:txBody>
      </p:sp>
      <p:sp>
        <p:nvSpPr>
          <p:cNvPr id="22" name="Text 20"/>
          <p:cNvSpPr/>
          <p:nvPr/>
        </p:nvSpPr>
        <p:spPr>
          <a:xfrm>
            <a:off x="850392" y="3044952"/>
            <a:ext cx="354787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2D2D2D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System Architecture</a:t>
            </a:r>
            <a:endParaRPr lang="en-US" sz="1100" dirty="0"/>
          </a:p>
        </p:txBody>
      </p:sp>
      <p:sp>
        <p:nvSpPr>
          <p:cNvPr id="23" name="Text 21"/>
          <p:cNvSpPr/>
          <p:nvPr/>
        </p:nvSpPr>
        <p:spPr>
          <a:xfrm>
            <a:off x="850392" y="3300984"/>
            <a:ext cx="354787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B7B6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4-layer design overview</a:t>
            </a:r>
            <a:endParaRPr lang="en-US" sz="900" dirty="0"/>
          </a:p>
        </p:txBody>
      </p:sp>
      <p:sp>
        <p:nvSpPr>
          <p:cNvPr id="24" name="Shape 22"/>
          <p:cNvSpPr/>
          <p:nvPr/>
        </p:nvSpPr>
        <p:spPr>
          <a:xfrm>
            <a:off x="320040" y="3675888"/>
            <a:ext cx="4160520" cy="548640"/>
          </a:xfrm>
          <a:prstGeom prst="rect">
            <a:avLst/>
          </a:prstGeom>
          <a:solidFill>
            <a:srgbClr val="F0EDE8"/>
          </a:solidFill>
          <a:ln w="12700">
            <a:solidFill>
              <a:srgbClr val="B87333">
                <a:alpha val="30000"/>
              </a:srgbClr>
            </a:solidFill>
            <a:prstDash val="solid"/>
          </a:ln>
          <a:effectLst>
            <a:outerShdw blurRad="101600" dist="38100" dir="8100000" algn="bl" rotWithShape="0">
              <a:srgbClr val="000000">
                <a:alpha val="25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25" name="Shape 23"/>
          <p:cNvSpPr/>
          <p:nvPr/>
        </p:nvSpPr>
        <p:spPr>
          <a:xfrm>
            <a:off x="320040" y="3675888"/>
            <a:ext cx="475488" cy="548640"/>
          </a:xfrm>
          <a:prstGeom prst="rect">
            <a:avLst/>
          </a:prstGeom>
          <a:solidFill>
            <a:srgbClr val="B87333"/>
          </a:solidFill>
          <a:ln w="12700">
            <a:solidFill>
              <a:srgbClr val="B87333"/>
            </a:solidFill>
            <a:prstDash val="solid"/>
          </a:ln>
        </p:spPr>
        <p:txBody>
          <a:bodyPr/>
          <a:lstStyle/>
          <a:p>
            <a:endParaRPr lang="en-IN">
              <a:solidFill>
                <a:srgbClr val="FFFFFF"/>
              </a:solidFill>
            </a:endParaRPr>
          </a:p>
        </p:txBody>
      </p:sp>
      <p:sp>
        <p:nvSpPr>
          <p:cNvPr id="26" name="Text 24"/>
          <p:cNvSpPr/>
          <p:nvPr/>
        </p:nvSpPr>
        <p:spPr>
          <a:xfrm>
            <a:off x="320040" y="3675888"/>
            <a:ext cx="47548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05</a:t>
            </a:r>
            <a:endParaRPr lang="en-US" sz="1300" dirty="0"/>
          </a:p>
        </p:txBody>
      </p:sp>
      <p:sp>
        <p:nvSpPr>
          <p:cNvPr id="27" name="Text 25"/>
          <p:cNvSpPr/>
          <p:nvPr/>
        </p:nvSpPr>
        <p:spPr>
          <a:xfrm>
            <a:off x="850392" y="3712464"/>
            <a:ext cx="354787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2D2D2D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NLP Engine — How It Works</a:t>
            </a:r>
            <a:endParaRPr lang="en-US" sz="1100" dirty="0"/>
          </a:p>
        </p:txBody>
      </p:sp>
      <p:sp>
        <p:nvSpPr>
          <p:cNvPr id="28" name="Text 26"/>
          <p:cNvSpPr/>
          <p:nvPr/>
        </p:nvSpPr>
        <p:spPr>
          <a:xfrm>
            <a:off x="850392" y="3968496"/>
            <a:ext cx="354787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B7B6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Keyword scoring algorithm</a:t>
            </a:r>
            <a:endParaRPr lang="en-US" sz="900" dirty="0"/>
          </a:p>
        </p:txBody>
      </p:sp>
      <p:sp>
        <p:nvSpPr>
          <p:cNvPr id="29" name="Shape 27"/>
          <p:cNvSpPr/>
          <p:nvPr/>
        </p:nvSpPr>
        <p:spPr>
          <a:xfrm>
            <a:off x="320040" y="4343400"/>
            <a:ext cx="4160520" cy="548640"/>
          </a:xfrm>
          <a:prstGeom prst="rect">
            <a:avLst/>
          </a:prstGeom>
          <a:solidFill>
            <a:srgbClr val="F0EDE8"/>
          </a:solidFill>
          <a:ln w="12700">
            <a:solidFill>
              <a:srgbClr val="B87333">
                <a:alpha val="30000"/>
              </a:srgbClr>
            </a:solidFill>
            <a:prstDash val="solid"/>
          </a:ln>
          <a:effectLst>
            <a:outerShdw blurRad="101600" dist="38100" dir="8100000" algn="bl" rotWithShape="0">
              <a:srgbClr val="000000">
                <a:alpha val="25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30" name="Shape 28"/>
          <p:cNvSpPr/>
          <p:nvPr/>
        </p:nvSpPr>
        <p:spPr>
          <a:xfrm>
            <a:off x="320040" y="4343400"/>
            <a:ext cx="475488" cy="548640"/>
          </a:xfrm>
          <a:prstGeom prst="rect">
            <a:avLst/>
          </a:prstGeom>
          <a:solidFill>
            <a:srgbClr val="B87333"/>
          </a:solidFill>
          <a:ln w="12700">
            <a:solidFill>
              <a:srgbClr val="B87333"/>
            </a:solidFill>
            <a:prstDash val="solid"/>
          </a:ln>
        </p:spPr>
        <p:txBody>
          <a:bodyPr/>
          <a:lstStyle/>
          <a:p>
            <a:endParaRPr lang="en-IN">
              <a:solidFill>
                <a:srgbClr val="FFFFFF"/>
              </a:solidFill>
            </a:endParaRPr>
          </a:p>
        </p:txBody>
      </p:sp>
      <p:sp>
        <p:nvSpPr>
          <p:cNvPr id="31" name="Text 29"/>
          <p:cNvSpPr/>
          <p:nvPr/>
        </p:nvSpPr>
        <p:spPr>
          <a:xfrm>
            <a:off x="320040" y="4343400"/>
            <a:ext cx="47548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06</a:t>
            </a:r>
            <a:endParaRPr lang="en-US" sz="1300" dirty="0"/>
          </a:p>
        </p:txBody>
      </p:sp>
      <p:sp>
        <p:nvSpPr>
          <p:cNvPr id="32" name="Text 30"/>
          <p:cNvSpPr/>
          <p:nvPr/>
        </p:nvSpPr>
        <p:spPr>
          <a:xfrm>
            <a:off x="850392" y="4379976"/>
            <a:ext cx="354787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2D2D2D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Finance Knowledge Base</a:t>
            </a:r>
            <a:endParaRPr lang="en-US" sz="1100" dirty="0"/>
          </a:p>
        </p:txBody>
      </p:sp>
      <p:sp>
        <p:nvSpPr>
          <p:cNvPr id="33" name="Text 31"/>
          <p:cNvSpPr/>
          <p:nvPr/>
        </p:nvSpPr>
        <p:spPr>
          <a:xfrm>
            <a:off x="850392" y="4636008"/>
            <a:ext cx="354787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B7B6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13 topics, 123 keywords</a:t>
            </a:r>
            <a:endParaRPr lang="en-US" sz="900" dirty="0"/>
          </a:p>
        </p:txBody>
      </p:sp>
      <p:sp>
        <p:nvSpPr>
          <p:cNvPr id="34" name="Shape 32"/>
          <p:cNvSpPr/>
          <p:nvPr/>
        </p:nvSpPr>
        <p:spPr>
          <a:xfrm>
            <a:off x="4754880" y="1005840"/>
            <a:ext cx="4160520" cy="548640"/>
          </a:xfrm>
          <a:prstGeom prst="rect">
            <a:avLst/>
          </a:prstGeom>
          <a:solidFill>
            <a:srgbClr val="F0EDE8"/>
          </a:solidFill>
          <a:ln w="12700">
            <a:solidFill>
              <a:srgbClr val="B87333">
                <a:alpha val="30000"/>
              </a:srgbClr>
            </a:solidFill>
            <a:prstDash val="solid"/>
          </a:ln>
          <a:effectLst>
            <a:outerShdw blurRad="101600" dist="38100" dir="8100000" algn="bl" rotWithShape="0">
              <a:srgbClr val="000000">
                <a:alpha val="25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35" name="Shape 33"/>
          <p:cNvSpPr/>
          <p:nvPr/>
        </p:nvSpPr>
        <p:spPr>
          <a:xfrm>
            <a:off x="4754880" y="1005840"/>
            <a:ext cx="475488" cy="548640"/>
          </a:xfrm>
          <a:prstGeom prst="rect">
            <a:avLst/>
          </a:prstGeom>
          <a:solidFill>
            <a:srgbClr val="B87333"/>
          </a:solidFill>
          <a:ln w="12700">
            <a:solidFill>
              <a:srgbClr val="B87333"/>
            </a:solidFill>
            <a:prstDash val="solid"/>
          </a:ln>
        </p:spPr>
        <p:txBody>
          <a:bodyPr/>
          <a:lstStyle/>
          <a:p>
            <a:endParaRPr lang="en-IN">
              <a:solidFill>
                <a:srgbClr val="FFFFFF"/>
              </a:solidFill>
            </a:endParaRPr>
          </a:p>
        </p:txBody>
      </p:sp>
      <p:sp>
        <p:nvSpPr>
          <p:cNvPr id="36" name="Text 34"/>
          <p:cNvSpPr/>
          <p:nvPr/>
        </p:nvSpPr>
        <p:spPr>
          <a:xfrm>
            <a:off x="4754880" y="1005840"/>
            <a:ext cx="47548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07</a:t>
            </a:r>
            <a:endParaRPr lang="en-US" sz="1300" dirty="0"/>
          </a:p>
        </p:txBody>
      </p:sp>
      <p:sp>
        <p:nvSpPr>
          <p:cNvPr id="37" name="Text 35"/>
          <p:cNvSpPr/>
          <p:nvPr/>
        </p:nvSpPr>
        <p:spPr>
          <a:xfrm>
            <a:off x="5285232" y="1042416"/>
            <a:ext cx="354787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2D2D2D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Application &amp; API Design</a:t>
            </a:r>
            <a:endParaRPr lang="en-US" sz="1100" dirty="0"/>
          </a:p>
        </p:txBody>
      </p:sp>
      <p:sp>
        <p:nvSpPr>
          <p:cNvPr id="38" name="Text 36"/>
          <p:cNvSpPr/>
          <p:nvPr/>
        </p:nvSpPr>
        <p:spPr>
          <a:xfrm>
            <a:off x="5285232" y="1298448"/>
            <a:ext cx="354787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B7B6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Modules, routes, endpoints</a:t>
            </a:r>
            <a:endParaRPr lang="en-US" sz="900" dirty="0"/>
          </a:p>
        </p:txBody>
      </p:sp>
      <p:sp>
        <p:nvSpPr>
          <p:cNvPr id="39" name="Shape 37"/>
          <p:cNvSpPr/>
          <p:nvPr/>
        </p:nvSpPr>
        <p:spPr>
          <a:xfrm>
            <a:off x="4754880" y="1673352"/>
            <a:ext cx="4160520" cy="548640"/>
          </a:xfrm>
          <a:prstGeom prst="rect">
            <a:avLst/>
          </a:prstGeom>
          <a:solidFill>
            <a:srgbClr val="F0EDE8"/>
          </a:solidFill>
          <a:ln w="12700">
            <a:solidFill>
              <a:srgbClr val="B87333">
                <a:alpha val="30000"/>
              </a:srgbClr>
            </a:solidFill>
            <a:prstDash val="solid"/>
          </a:ln>
          <a:effectLst>
            <a:outerShdw blurRad="101600" dist="38100" dir="8100000" algn="bl" rotWithShape="0">
              <a:srgbClr val="000000">
                <a:alpha val="25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40" name="Shape 38"/>
          <p:cNvSpPr/>
          <p:nvPr/>
        </p:nvSpPr>
        <p:spPr>
          <a:xfrm>
            <a:off x="4754880" y="1673352"/>
            <a:ext cx="475488" cy="548640"/>
          </a:xfrm>
          <a:prstGeom prst="rect">
            <a:avLst/>
          </a:prstGeom>
          <a:solidFill>
            <a:srgbClr val="B87333"/>
          </a:solidFill>
          <a:ln w="12700">
            <a:solidFill>
              <a:srgbClr val="B87333"/>
            </a:solidFill>
            <a:prstDash val="solid"/>
          </a:ln>
        </p:spPr>
        <p:txBody>
          <a:bodyPr/>
          <a:lstStyle/>
          <a:p>
            <a:endParaRPr lang="en-IN">
              <a:solidFill>
                <a:srgbClr val="FFFFFF"/>
              </a:solidFill>
            </a:endParaRPr>
          </a:p>
        </p:txBody>
      </p:sp>
      <p:sp>
        <p:nvSpPr>
          <p:cNvPr id="41" name="Text 39"/>
          <p:cNvSpPr/>
          <p:nvPr/>
        </p:nvSpPr>
        <p:spPr>
          <a:xfrm>
            <a:off x="4754880" y="1673352"/>
            <a:ext cx="47548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08</a:t>
            </a:r>
            <a:endParaRPr lang="en-US" sz="1300" dirty="0"/>
          </a:p>
        </p:txBody>
      </p:sp>
      <p:sp>
        <p:nvSpPr>
          <p:cNvPr id="42" name="Text 40"/>
          <p:cNvSpPr/>
          <p:nvPr/>
        </p:nvSpPr>
        <p:spPr>
          <a:xfrm>
            <a:off x="5285232" y="1709928"/>
            <a:ext cx="354787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2D2D2D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GUI Layout &amp; Features</a:t>
            </a:r>
            <a:endParaRPr lang="en-US" sz="1100" dirty="0"/>
          </a:p>
        </p:txBody>
      </p:sp>
      <p:sp>
        <p:nvSpPr>
          <p:cNvPr id="43" name="Text 41"/>
          <p:cNvSpPr/>
          <p:nvPr/>
        </p:nvSpPr>
        <p:spPr>
          <a:xfrm>
            <a:off x="5285232" y="1965960"/>
            <a:ext cx="354787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B7B6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Website + floating chat widget</a:t>
            </a:r>
            <a:endParaRPr lang="en-US" sz="900" dirty="0"/>
          </a:p>
        </p:txBody>
      </p:sp>
      <p:sp>
        <p:nvSpPr>
          <p:cNvPr id="44" name="Shape 42"/>
          <p:cNvSpPr/>
          <p:nvPr/>
        </p:nvSpPr>
        <p:spPr>
          <a:xfrm>
            <a:off x="4754880" y="2340864"/>
            <a:ext cx="4160520" cy="548640"/>
          </a:xfrm>
          <a:prstGeom prst="rect">
            <a:avLst/>
          </a:prstGeom>
          <a:solidFill>
            <a:srgbClr val="F0EDE8"/>
          </a:solidFill>
          <a:ln w="12700">
            <a:solidFill>
              <a:srgbClr val="B87333">
                <a:alpha val="30000"/>
              </a:srgbClr>
            </a:solidFill>
            <a:prstDash val="solid"/>
          </a:ln>
          <a:effectLst>
            <a:outerShdw blurRad="101600" dist="38100" dir="8100000" algn="bl" rotWithShape="0">
              <a:srgbClr val="000000">
                <a:alpha val="25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45" name="Shape 43"/>
          <p:cNvSpPr/>
          <p:nvPr/>
        </p:nvSpPr>
        <p:spPr>
          <a:xfrm>
            <a:off x="4754880" y="2340864"/>
            <a:ext cx="475488" cy="548640"/>
          </a:xfrm>
          <a:prstGeom prst="rect">
            <a:avLst/>
          </a:prstGeom>
          <a:solidFill>
            <a:srgbClr val="B87333"/>
          </a:solidFill>
          <a:ln w="12700">
            <a:solidFill>
              <a:srgbClr val="B87333"/>
            </a:solidFill>
            <a:prstDash val="solid"/>
          </a:ln>
        </p:spPr>
        <p:txBody>
          <a:bodyPr/>
          <a:lstStyle/>
          <a:p>
            <a:endParaRPr lang="en-IN">
              <a:solidFill>
                <a:srgbClr val="FFFFFF"/>
              </a:solidFill>
            </a:endParaRPr>
          </a:p>
        </p:txBody>
      </p:sp>
      <p:sp>
        <p:nvSpPr>
          <p:cNvPr id="46" name="Text 44"/>
          <p:cNvSpPr/>
          <p:nvPr/>
        </p:nvSpPr>
        <p:spPr>
          <a:xfrm>
            <a:off x="4754880" y="2340864"/>
            <a:ext cx="47548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09</a:t>
            </a:r>
            <a:endParaRPr lang="en-US" sz="1300" dirty="0"/>
          </a:p>
        </p:txBody>
      </p:sp>
      <p:sp>
        <p:nvSpPr>
          <p:cNvPr id="47" name="Text 45"/>
          <p:cNvSpPr/>
          <p:nvPr/>
        </p:nvSpPr>
        <p:spPr>
          <a:xfrm>
            <a:off x="5285232" y="2377440"/>
            <a:ext cx="354787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2D2D2D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Testing &amp; Results</a:t>
            </a:r>
            <a:endParaRPr lang="en-US" sz="1100" dirty="0"/>
          </a:p>
        </p:txBody>
      </p:sp>
      <p:sp>
        <p:nvSpPr>
          <p:cNvPr id="48" name="Text 46"/>
          <p:cNvSpPr/>
          <p:nvPr/>
        </p:nvSpPr>
        <p:spPr>
          <a:xfrm>
            <a:off x="5285232" y="2633472"/>
            <a:ext cx="354787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B7B6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78 test cases, 4 bugs fixed</a:t>
            </a:r>
            <a:endParaRPr lang="en-US" sz="900" dirty="0"/>
          </a:p>
        </p:txBody>
      </p:sp>
      <p:sp>
        <p:nvSpPr>
          <p:cNvPr id="49" name="Shape 47"/>
          <p:cNvSpPr/>
          <p:nvPr/>
        </p:nvSpPr>
        <p:spPr>
          <a:xfrm>
            <a:off x="4754880" y="3008376"/>
            <a:ext cx="4160520" cy="548640"/>
          </a:xfrm>
          <a:prstGeom prst="rect">
            <a:avLst/>
          </a:prstGeom>
          <a:solidFill>
            <a:srgbClr val="F0EDE8"/>
          </a:solidFill>
          <a:ln w="12700">
            <a:solidFill>
              <a:srgbClr val="B87333">
                <a:alpha val="30000"/>
              </a:srgbClr>
            </a:solidFill>
            <a:prstDash val="solid"/>
          </a:ln>
          <a:effectLst>
            <a:outerShdw blurRad="101600" dist="38100" dir="8100000" algn="bl" rotWithShape="0">
              <a:srgbClr val="000000">
                <a:alpha val="25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50" name="Shape 48"/>
          <p:cNvSpPr/>
          <p:nvPr/>
        </p:nvSpPr>
        <p:spPr>
          <a:xfrm>
            <a:off x="4754880" y="3008376"/>
            <a:ext cx="475488" cy="548640"/>
          </a:xfrm>
          <a:prstGeom prst="rect">
            <a:avLst/>
          </a:prstGeom>
          <a:solidFill>
            <a:srgbClr val="B87333"/>
          </a:solidFill>
          <a:ln w="12700">
            <a:solidFill>
              <a:srgbClr val="B87333"/>
            </a:solidFill>
            <a:prstDash val="solid"/>
          </a:ln>
        </p:spPr>
        <p:txBody>
          <a:bodyPr/>
          <a:lstStyle/>
          <a:p>
            <a:endParaRPr lang="en-IN">
              <a:solidFill>
                <a:srgbClr val="FFFFFF"/>
              </a:solidFill>
            </a:endParaRPr>
          </a:p>
        </p:txBody>
      </p:sp>
      <p:sp>
        <p:nvSpPr>
          <p:cNvPr id="51" name="Text 49"/>
          <p:cNvSpPr/>
          <p:nvPr/>
        </p:nvSpPr>
        <p:spPr>
          <a:xfrm>
            <a:off x="4754880" y="3008376"/>
            <a:ext cx="47548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10</a:t>
            </a:r>
            <a:endParaRPr lang="en-US" sz="1300" dirty="0"/>
          </a:p>
        </p:txBody>
      </p:sp>
      <p:sp>
        <p:nvSpPr>
          <p:cNvPr id="52" name="Text 50"/>
          <p:cNvSpPr/>
          <p:nvPr/>
        </p:nvSpPr>
        <p:spPr>
          <a:xfrm>
            <a:off x="5285232" y="3044952"/>
            <a:ext cx="354787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2D2D2D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Demo Walkthrough</a:t>
            </a:r>
            <a:endParaRPr lang="en-US" sz="1100" dirty="0"/>
          </a:p>
        </p:txBody>
      </p:sp>
      <p:sp>
        <p:nvSpPr>
          <p:cNvPr id="53" name="Text 51"/>
          <p:cNvSpPr/>
          <p:nvPr/>
        </p:nvSpPr>
        <p:spPr>
          <a:xfrm>
            <a:off x="5285232" y="3300984"/>
            <a:ext cx="354787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B7B6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End-to-end query flow</a:t>
            </a:r>
            <a:endParaRPr lang="en-US" sz="900" dirty="0"/>
          </a:p>
        </p:txBody>
      </p:sp>
      <p:sp>
        <p:nvSpPr>
          <p:cNvPr id="54" name="Shape 52"/>
          <p:cNvSpPr/>
          <p:nvPr/>
        </p:nvSpPr>
        <p:spPr>
          <a:xfrm>
            <a:off x="4754880" y="3675888"/>
            <a:ext cx="4160520" cy="548640"/>
          </a:xfrm>
          <a:prstGeom prst="rect">
            <a:avLst/>
          </a:prstGeom>
          <a:solidFill>
            <a:srgbClr val="F0EDE8"/>
          </a:solidFill>
          <a:ln w="12700">
            <a:solidFill>
              <a:srgbClr val="B87333">
                <a:alpha val="30000"/>
              </a:srgbClr>
            </a:solidFill>
            <a:prstDash val="solid"/>
          </a:ln>
          <a:effectLst>
            <a:outerShdw blurRad="101600" dist="38100" dir="8100000" algn="bl" rotWithShape="0">
              <a:srgbClr val="000000">
                <a:alpha val="25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55" name="Shape 53"/>
          <p:cNvSpPr/>
          <p:nvPr/>
        </p:nvSpPr>
        <p:spPr>
          <a:xfrm>
            <a:off x="4754880" y="3675888"/>
            <a:ext cx="475488" cy="548640"/>
          </a:xfrm>
          <a:prstGeom prst="rect">
            <a:avLst/>
          </a:prstGeom>
          <a:solidFill>
            <a:srgbClr val="B87333"/>
          </a:solidFill>
          <a:ln w="12700">
            <a:solidFill>
              <a:srgbClr val="B87333"/>
            </a:solidFill>
            <a:prstDash val="solid"/>
          </a:ln>
        </p:spPr>
        <p:txBody>
          <a:bodyPr/>
          <a:lstStyle/>
          <a:p>
            <a:endParaRPr lang="en-IN">
              <a:solidFill>
                <a:srgbClr val="FFFFFF"/>
              </a:solidFill>
            </a:endParaRPr>
          </a:p>
        </p:txBody>
      </p:sp>
      <p:sp>
        <p:nvSpPr>
          <p:cNvPr id="56" name="Text 54"/>
          <p:cNvSpPr/>
          <p:nvPr/>
        </p:nvSpPr>
        <p:spPr>
          <a:xfrm>
            <a:off x="4754880" y="3675888"/>
            <a:ext cx="47548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11</a:t>
            </a:r>
            <a:endParaRPr lang="en-US" sz="1300" dirty="0"/>
          </a:p>
        </p:txBody>
      </p:sp>
      <p:sp>
        <p:nvSpPr>
          <p:cNvPr id="57" name="Text 55"/>
          <p:cNvSpPr/>
          <p:nvPr/>
        </p:nvSpPr>
        <p:spPr>
          <a:xfrm>
            <a:off x="5285232" y="3712464"/>
            <a:ext cx="354787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2D2D2D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Evaluation &amp; Conclusions</a:t>
            </a:r>
            <a:endParaRPr lang="en-US" sz="1100" dirty="0"/>
          </a:p>
        </p:txBody>
      </p:sp>
      <p:sp>
        <p:nvSpPr>
          <p:cNvPr id="58" name="Text 56"/>
          <p:cNvSpPr/>
          <p:nvPr/>
        </p:nvSpPr>
        <p:spPr>
          <a:xfrm>
            <a:off x="5285232" y="3968496"/>
            <a:ext cx="354787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B7B6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Strengths, limitations</a:t>
            </a:r>
            <a:endParaRPr lang="en-US" sz="900" dirty="0"/>
          </a:p>
        </p:txBody>
      </p:sp>
      <p:sp>
        <p:nvSpPr>
          <p:cNvPr id="59" name="Shape 57"/>
          <p:cNvSpPr/>
          <p:nvPr/>
        </p:nvSpPr>
        <p:spPr>
          <a:xfrm>
            <a:off x="4754880" y="4343400"/>
            <a:ext cx="4160520" cy="548640"/>
          </a:xfrm>
          <a:prstGeom prst="rect">
            <a:avLst/>
          </a:prstGeom>
          <a:solidFill>
            <a:srgbClr val="F0EDE8"/>
          </a:solidFill>
          <a:ln w="12700">
            <a:solidFill>
              <a:srgbClr val="B87333">
                <a:alpha val="30000"/>
              </a:srgbClr>
            </a:solidFill>
            <a:prstDash val="solid"/>
          </a:ln>
          <a:effectLst>
            <a:outerShdw blurRad="101600" dist="38100" dir="8100000" algn="bl" rotWithShape="0">
              <a:srgbClr val="000000">
                <a:alpha val="25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60" name="Shape 58"/>
          <p:cNvSpPr/>
          <p:nvPr/>
        </p:nvSpPr>
        <p:spPr>
          <a:xfrm>
            <a:off x="4754880" y="4343400"/>
            <a:ext cx="475488" cy="548640"/>
          </a:xfrm>
          <a:prstGeom prst="rect">
            <a:avLst/>
          </a:prstGeom>
          <a:solidFill>
            <a:srgbClr val="B87333"/>
          </a:solidFill>
          <a:ln w="12700">
            <a:solidFill>
              <a:srgbClr val="B87333"/>
            </a:solidFill>
            <a:prstDash val="solid"/>
          </a:ln>
        </p:spPr>
        <p:txBody>
          <a:bodyPr/>
          <a:lstStyle/>
          <a:p>
            <a:endParaRPr lang="en-IN">
              <a:solidFill>
                <a:srgbClr val="FFFFFF"/>
              </a:solidFill>
            </a:endParaRPr>
          </a:p>
        </p:txBody>
      </p:sp>
      <p:sp>
        <p:nvSpPr>
          <p:cNvPr id="61" name="Text 59"/>
          <p:cNvSpPr/>
          <p:nvPr/>
        </p:nvSpPr>
        <p:spPr>
          <a:xfrm>
            <a:off x="4754880" y="4343400"/>
            <a:ext cx="47548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12</a:t>
            </a:r>
            <a:endParaRPr lang="en-US" sz="1300" dirty="0"/>
          </a:p>
        </p:txBody>
      </p:sp>
      <p:sp>
        <p:nvSpPr>
          <p:cNvPr id="62" name="Text 60"/>
          <p:cNvSpPr/>
          <p:nvPr/>
        </p:nvSpPr>
        <p:spPr>
          <a:xfrm>
            <a:off x="5285232" y="4379976"/>
            <a:ext cx="354787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2D2D2D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Future Development</a:t>
            </a:r>
            <a:endParaRPr lang="en-US" sz="1100" dirty="0"/>
          </a:p>
        </p:txBody>
      </p:sp>
      <p:sp>
        <p:nvSpPr>
          <p:cNvPr id="63" name="Text 61"/>
          <p:cNvSpPr/>
          <p:nvPr/>
        </p:nvSpPr>
        <p:spPr>
          <a:xfrm>
            <a:off x="5285232" y="4636008"/>
            <a:ext cx="354787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B7B6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Enhancements roadmap</a:t>
            </a:r>
            <a:endParaRPr lang="en-US" sz="900" dirty="0"/>
          </a:p>
        </p:txBody>
      </p:sp>
    </p:spTree>
    <p:extLst>
      <p:ext uri="{BB962C8B-B14F-4D97-AF65-F5344CB8AC3E}">
        <p14:creationId xmlns:p14="http://schemas.microsoft.com/office/powerpoint/2010/main" val="863398219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AF8F5">
            <a:alpha val="100000"/>
          </a:srgb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73152" cy="5143500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" name="Text 1"/>
          <p:cNvSpPr/>
          <p:nvPr/>
        </p:nvSpPr>
        <p:spPr>
          <a:xfrm>
            <a:off x="365760" y="201168"/>
            <a:ext cx="841248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2D2D2D"/>
                </a:solidFill>
                <a:latin typeface="Georgia" pitchFamily="34" charset="0"/>
                <a:ea typeface="Segoe UI" pitchFamily="34" charset="-122"/>
                <a:cs typeface="Segoe UI" pitchFamily="34" charset="-120"/>
              </a:rPr>
              <a:t>Problem Statement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365760" y="731520"/>
            <a:ext cx="84124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B8733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Why does this project need to exist?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320040" y="1143000"/>
            <a:ext cx="2560320" cy="1691640"/>
          </a:xfrm>
          <a:prstGeom prst="rect">
            <a:avLst/>
          </a:prstGeom>
          <a:solidFill>
            <a:srgbClr val="F59E0B">
              <a:alpha val="12000"/>
            </a:srgbClr>
          </a:solidFill>
          <a:ln w="12700">
            <a:solidFill>
              <a:srgbClr val="F59E0B">
                <a:alpha val="50000"/>
              </a:srgbClr>
            </a:solidFill>
            <a:prstDash val="solid"/>
          </a:ln>
          <a:effectLst>
            <a:outerShdw blurRad="101600" dist="38100" dir="8100000" algn="bl" rotWithShape="0">
              <a:srgbClr val="000000">
                <a:alpha val="25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6" name="Text 4"/>
          <p:cNvSpPr/>
          <p:nvPr/>
        </p:nvSpPr>
        <p:spPr>
          <a:xfrm>
            <a:off x="320040" y="1234440"/>
            <a:ext cx="25603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5400" b="1" dirty="0">
                <a:solidFill>
                  <a:srgbClr val="F59E0B"/>
                </a:solidFill>
                <a:latin typeface="Georgia" pitchFamily="34" charset="0"/>
                <a:ea typeface="Segoe UI" pitchFamily="34" charset="-122"/>
                <a:cs typeface="Segoe UI" pitchFamily="34" charset="-120"/>
              </a:rPr>
              <a:t>24%</a:t>
            </a:r>
            <a:endParaRPr lang="en-US" sz="5400" dirty="0"/>
          </a:p>
        </p:txBody>
      </p:sp>
      <p:sp>
        <p:nvSpPr>
          <p:cNvPr id="7" name="Text 5"/>
          <p:cNvSpPr/>
          <p:nvPr/>
        </p:nvSpPr>
        <p:spPr>
          <a:xfrm>
            <a:off x="320040" y="2029968"/>
            <a:ext cx="256032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2D2D2D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of Indian adults</a:t>
            </a:r>
            <a:endParaRPr lang="en-US" sz="1000" dirty="0"/>
          </a:p>
          <a:p>
            <a:pPr marL="0" indent="0" algn="ctr">
              <a:buNone/>
            </a:pPr>
            <a:r>
              <a:rPr lang="en-US" sz="1000" dirty="0">
                <a:solidFill>
                  <a:srgbClr val="2D2D2D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are financially literate</a:t>
            </a:r>
            <a:endParaRPr lang="en-US" sz="1000" dirty="0"/>
          </a:p>
          <a:p>
            <a:pPr marL="0" indent="0" algn="ctr">
              <a:buNone/>
            </a:pPr>
            <a:r>
              <a:rPr lang="en-US" sz="1000" dirty="0">
                <a:solidFill>
                  <a:srgbClr val="2D2D2D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(S&amp;P Global Survey)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3154680" y="1143000"/>
            <a:ext cx="5650992" cy="749808"/>
          </a:xfrm>
          <a:prstGeom prst="rect">
            <a:avLst/>
          </a:prstGeom>
          <a:solidFill>
            <a:srgbClr val="F0EDE8"/>
          </a:solidFill>
          <a:ln w="12700">
            <a:solidFill>
              <a:srgbClr val="F59E0B">
                <a:alpha val="20000"/>
              </a:srgbClr>
            </a:solidFill>
            <a:prstDash val="solid"/>
          </a:ln>
          <a:effectLst>
            <a:outerShdw blurRad="101600" dist="38100" dir="8100000" algn="bl" rotWithShape="0">
              <a:srgbClr val="000000">
                <a:alpha val="25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9" name="Text 7"/>
          <p:cNvSpPr/>
          <p:nvPr/>
        </p:nvSpPr>
        <p:spPr>
          <a:xfrm>
            <a:off x="3218688" y="1252728"/>
            <a:ext cx="402336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endParaRPr lang="en-US" sz="2000" dirty="0"/>
          </a:p>
        </p:txBody>
      </p:sp>
      <p:sp>
        <p:nvSpPr>
          <p:cNvPr id="10" name="Text 8"/>
          <p:cNvSpPr/>
          <p:nvPr/>
        </p:nvSpPr>
        <p:spPr>
          <a:xfrm>
            <a:off x="3675888" y="119786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2D2D2D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Expensive Advice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3675888" y="1472184"/>
            <a:ext cx="504748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6B7B6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Professional financial advisors are unaffordable for most students and young earners</a:t>
            </a:r>
            <a:endParaRPr lang="en-US" sz="950" dirty="0"/>
          </a:p>
        </p:txBody>
      </p:sp>
      <p:sp>
        <p:nvSpPr>
          <p:cNvPr id="12" name="Shape 10"/>
          <p:cNvSpPr/>
          <p:nvPr/>
        </p:nvSpPr>
        <p:spPr>
          <a:xfrm>
            <a:off x="3154680" y="2002536"/>
            <a:ext cx="5650992" cy="749808"/>
          </a:xfrm>
          <a:prstGeom prst="rect">
            <a:avLst/>
          </a:prstGeom>
          <a:solidFill>
            <a:srgbClr val="F0EDE8"/>
          </a:solidFill>
          <a:ln w="12700">
            <a:solidFill>
              <a:srgbClr val="F59E0B">
                <a:alpha val="20000"/>
              </a:srgbClr>
            </a:solidFill>
            <a:prstDash val="solid"/>
          </a:ln>
          <a:effectLst>
            <a:outerShdw blurRad="101600" dist="38100" dir="8100000" algn="bl" rotWithShape="0">
              <a:srgbClr val="000000">
                <a:alpha val="25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13" name="Text 11"/>
          <p:cNvSpPr/>
          <p:nvPr/>
        </p:nvSpPr>
        <p:spPr>
          <a:xfrm>
            <a:off x="3218688" y="2112264"/>
            <a:ext cx="402336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endParaRPr lang="en-US" sz="2000" dirty="0"/>
          </a:p>
        </p:txBody>
      </p:sp>
      <p:sp>
        <p:nvSpPr>
          <p:cNvPr id="14" name="Text 12"/>
          <p:cNvSpPr/>
          <p:nvPr/>
        </p:nvSpPr>
        <p:spPr>
          <a:xfrm>
            <a:off x="3675888" y="2057400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2D2D2D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Scattered Info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3675888" y="2331720"/>
            <a:ext cx="504748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6B7B6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Searching the internet returns jargon-heavy, conflicting results that confuse more than help</a:t>
            </a:r>
            <a:endParaRPr lang="en-US" sz="950" dirty="0"/>
          </a:p>
        </p:txBody>
      </p:sp>
      <p:sp>
        <p:nvSpPr>
          <p:cNvPr id="16" name="Shape 14"/>
          <p:cNvSpPr/>
          <p:nvPr/>
        </p:nvSpPr>
        <p:spPr>
          <a:xfrm>
            <a:off x="3154680" y="2862072"/>
            <a:ext cx="5650992" cy="749808"/>
          </a:xfrm>
          <a:prstGeom prst="rect">
            <a:avLst/>
          </a:prstGeom>
          <a:solidFill>
            <a:srgbClr val="F0EDE8"/>
          </a:solidFill>
          <a:ln w="12700">
            <a:solidFill>
              <a:srgbClr val="F59E0B">
                <a:alpha val="20000"/>
              </a:srgbClr>
            </a:solidFill>
            <a:prstDash val="solid"/>
          </a:ln>
          <a:effectLst>
            <a:outerShdw blurRad="101600" dist="38100" dir="8100000" algn="bl" rotWithShape="0">
              <a:srgbClr val="000000">
                <a:alpha val="25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17" name="Text 15"/>
          <p:cNvSpPr/>
          <p:nvPr/>
        </p:nvSpPr>
        <p:spPr>
          <a:xfrm>
            <a:off x="3218688" y="2971800"/>
            <a:ext cx="402336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endParaRPr lang="en-US" sz="2000" dirty="0"/>
          </a:p>
        </p:txBody>
      </p:sp>
      <p:sp>
        <p:nvSpPr>
          <p:cNvPr id="18" name="Text 16"/>
          <p:cNvSpPr/>
          <p:nvPr/>
        </p:nvSpPr>
        <p:spPr>
          <a:xfrm>
            <a:off x="3675888" y="2916936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2D2D2D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Low Literacy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3675888" y="3191256"/>
            <a:ext cx="504748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6B7B6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Most college students cannot explain SIP, EMI, 80C, or the difference between term and ULIP</a:t>
            </a:r>
            <a:endParaRPr lang="en-US" sz="950" dirty="0"/>
          </a:p>
        </p:txBody>
      </p:sp>
      <p:sp>
        <p:nvSpPr>
          <p:cNvPr id="20" name="Shape 18"/>
          <p:cNvSpPr/>
          <p:nvPr/>
        </p:nvSpPr>
        <p:spPr>
          <a:xfrm>
            <a:off x="3154680" y="3721608"/>
            <a:ext cx="5650992" cy="749808"/>
          </a:xfrm>
          <a:prstGeom prst="rect">
            <a:avLst/>
          </a:prstGeom>
          <a:solidFill>
            <a:srgbClr val="F0EDE8"/>
          </a:solidFill>
          <a:ln w="12700">
            <a:solidFill>
              <a:srgbClr val="F59E0B">
                <a:alpha val="20000"/>
              </a:srgbClr>
            </a:solidFill>
            <a:prstDash val="solid"/>
          </a:ln>
          <a:effectLst>
            <a:outerShdw blurRad="101600" dist="38100" dir="8100000" algn="bl" rotWithShape="0">
              <a:srgbClr val="000000">
                <a:alpha val="25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21" name="Text 19"/>
          <p:cNvSpPr/>
          <p:nvPr/>
        </p:nvSpPr>
        <p:spPr>
          <a:xfrm>
            <a:off x="3218688" y="3831336"/>
            <a:ext cx="402336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endParaRPr lang="en-US" sz="2000" dirty="0"/>
          </a:p>
        </p:txBody>
      </p:sp>
      <p:sp>
        <p:nvSpPr>
          <p:cNvPr id="22" name="Text 20"/>
          <p:cNvSpPr/>
          <p:nvPr/>
        </p:nvSpPr>
        <p:spPr>
          <a:xfrm>
            <a:off x="3675888" y="3776472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2D2D2D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No Local Tool</a:t>
            </a:r>
            <a:endParaRPr lang="en-US" sz="1100" dirty="0"/>
          </a:p>
        </p:txBody>
      </p:sp>
      <p:sp>
        <p:nvSpPr>
          <p:cNvPr id="23" name="Text 21"/>
          <p:cNvSpPr/>
          <p:nvPr/>
        </p:nvSpPr>
        <p:spPr>
          <a:xfrm>
            <a:off x="3675888" y="4050792"/>
            <a:ext cx="504748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6B7B6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Finance chatbots that exist are paid services tied to apps that require login and data sharing</a:t>
            </a:r>
            <a:endParaRPr lang="en-US" sz="950" dirty="0"/>
          </a:p>
        </p:txBody>
      </p:sp>
    </p:spTree>
    <p:extLst>
      <p:ext uri="{BB962C8B-B14F-4D97-AF65-F5344CB8AC3E}">
        <p14:creationId xmlns:p14="http://schemas.microsoft.com/office/powerpoint/2010/main" val="1674836089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AF8F5">
            <a:alpha val="100000"/>
          </a:srgb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73152" cy="5143500"/>
          </a:xfrm>
          <a:prstGeom prst="rect">
            <a:avLst/>
          </a:prstGeom>
          <a:solidFill>
            <a:srgbClr val="B87333"/>
          </a:solidFill>
          <a:ln w="12700">
            <a:solidFill>
              <a:srgbClr val="B87333"/>
            </a:solidFill>
            <a:prstDash val="solid"/>
          </a:ln>
        </p:spPr>
        <p:txBody>
          <a:bodyPr/>
          <a:lstStyle/>
          <a:p>
            <a:endParaRPr lang="en-IN">
              <a:solidFill>
                <a:srgbClr val="FFFFFF"/>
              </a:solidFill>
            </a:endParaRPr>
          </a:p>
        </p:txBody>
      </p:sp>
      <p:sp>
        <p:nvSpPr>
          <p:cNvPr id="3" name="Text 1"/>
          <p:cNvSpPr/>
          <p:nvPr/>
        </p:nvSpPr>
        <p:spPr>
          <a:xfrm>
            <a:off x="365760" y="201168"/>
            <a:ext cx="841248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2D2D2D"/>
                </a:solidFill>
                <a:latin typeface="Georgia" pitchFamily="34" charset="0"/>
                <a:ea typeface="Segoe UI" pitchFamily="34" charset="-122"/>
                <a:cs typeface="Segoe UI" pitchFamily="34" charset="-120"/>
              </a:rPr>
              <a:t>Project Objectives &amp; Aim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320040" y="960120"/>
            <a:ext cx="8458200" cy="694944"/>
          </a:xfrm>
          <a:prstGeom prst="rect">
            <a:avLst/>
          </a:prstGeom>
          <a:solidFill>
            <a:srgbClr val="F0EDE8"/>
          </a:solidFill>
          <a:ln w="12700">
            <a:solidFill>
              <a:srgbClr val="B87333">
                <a:alpha val="30000"/>
              </a:srgbClr>
            </a:solidFill>
            <a:prstDash val="solid"/>
          </a:ln>
          <a:effectLst>
            <a:outerShdw blurRad="101600" dist="38100" dir="8100000" algn="bl" rotWithShape="0">
              <a:srgbClr val="000000">
                <a:alpha val="25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5" name="Shape 3"/>
          <p:cNvSpPr/>
          <p:nvPr/>
        </p:nvSpPr>
        <p:spPr>
          <a:xfrm>
            <a:off x="320040" y="960120"/>
            <a:ext cx="548640" cy="694944"/>
          </a:xfrm>
          <a:prstGeom prst="rect">
            <a:avLst/>
          </a:prstGeom>
          <a:solidFill>
            <a:srgbClr val="B87333"/>
          </a:solidFill>
          <a:ln w="12700">
            <a:solidFill>
              <a:srgbClr val="B87333"/>
            </a:solidFill>
            <a:prstDash val="solid"/>
          </a:ln>
        </p:spPr>
        <p:txBody>
          <a:bodyPr/>
          <a:lstStyle/>
          <a:p>
            <a:endParaRPr lang="en-IN">
              <a:solidFill>
                <a:srgbClr val="FFFFFF"/>
              </a:solidFill>
            </a:endParaRPr>
          </a:p>
        </p:txBody>
      </p:sp>
      <p:sp>
        <p:nvSpPr>
          <p:cNvPr id="6" name="Text 4"/>
          <p:cNvSpPr/>
          <p:nvPr/>
        </p:nvSpPr>
        <p:spPr>
          <a:xfrm>
            <a:off x="320040" y="960120"/>
            <a:ext cx="548640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2D2D2D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01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960120" y="1014984"/>
            <a:ext cx="2743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2D2D2D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Build a Working NLP Engine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960120" y="1289304"/>
            <a:ext cx="769924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B7B6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 Python keyword-matching engine that identifies finance topics from any natural language query — no ML model needed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320040" y="1755648"/>
            <a:ext cx="8458200" cy="694944"/>
          </a:xfrm>
          <a:prstGeom prst="rect">
            <a:avLst/>
          </a:prstGeom>
          <a:solidFill>
            <a:srgbClr val="F0EDE8"/>
          </a:solidFill>
          <a:ln w="12700">
            <a:solidFill>
              <a:srgbClr val="F59E0B">
                <a:alpha val="30000"/>
              </a:srgbClr>
            </a:solidFill>
            <a:prstDash val="solid"/>
          </a:ln>
          <a:effectLst>
            <a:outerShdw blurRad="101600" dist="38100" dir="8100000" algn="bl" rotWithShape="0">
              <a:srgbClr val="000000">
                <a:alpha val="25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10" name="Shape 8"/>
          <p:cNvSpPr/>
          <p:nvPr/>
        </p:nvSpPr>
        <p:spPr>
          <a:xfrm>
            <a:off x="320040" y="1755648"/>
            <a:ext cx="548640" cy="694944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1" name="Text 9"/>
          <p:cNvSpPr/>
          <p:nvPr/>
        </p:nvSpPr>
        <p:spPr>
          <a:xfrm>
            <a:off x="320040" y="1755648"/>
            <a:ext cx="548640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2D2D2D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02</a:t>
            </a:r>
            <a:endParaRPr lang="en-US" sz="1500" dirty="0"/>
          </a:p>
        </p:txBody>
      </p:sp>
      <p:sp>
        <p:nvSpPr>
          <p:cNvPr id="12" name="Text 10"/>
          <p:cNvSpPr/>
          <p:nvPr/>
        </p:nvSpPr>
        <p:spPr>
          <a:xfrm>
            <a:off x="960120" y="1810512"/>
            <a:ext cx="2743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2D2D2D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Cover 10 Core Finance Topics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960120" y="2084832"/>
            <a:ext cx="769924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B7B6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Stocks, Loans, Tax, SIP, Insurance, Crypto, Savings, Inflation, Compounding, Budgeting — all India-specific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320040" y="2551176"/>
            <a:ext cx="8458200" cy="694944"/>
          </a:xfrm>
          <a:prstGeom prst="rect">
            <a:avLst/>
          </a:prstGeom>
          <a:solidFill>
            <a:srgbClr val="F0EDE8"/>
          </a:solidFill>
          <a:ln w="12700">
            <a:solidFill>
              <a:srgbClr val="B87333">
                <a:alpha val="30000"/>
              </a:srgbClr>
            </a:solidFill>
            <a:prstDash val="solid"/>
          </a:ln>
          <a:effectLst>
            <a:outerShdw blurRad="101600" dist="38100" dir="8100000" algn="bl" rotWithShape="0">
              <a:srgbClr val="000000">
                <a:alpha val="25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15" name="Shape 13"/>
          <p:cNvSpPr/>
          <p:nvPr/>
        </p:nvSpPr>
        <p:spPr>
          <a:xfrm>
            <a:off x="320040" y="2551176"/>
            <a:ext cx="548640" cy="694944"/>
          </a:xfrm>
          <a:prstGeom prst="rect">
            <a:avLst/>
          </a:prstGeom>
          <a:solidFill>
            <a:srgbClr val="B87333"/>
          </a:solidFill>
          <a:ln w="12700">
            <a:solidFill>
              <a:srgbClr val="B87333"/>
            </a:solidFill>
            <a:prstDash val="solid"/>
          </a:ln>
        </p:spPr>
        <p:txBody>
          <a:bodyPr/>
          <a:lstStyle/>
          <a:p>
            <a:endParaRPr lang="en-IN">
              <a:solidFill>
                <a:srgbClr val="FFFFFF"/>
              </a:solidFill>
            </a:endParaRPr>
          </a:p>
        </p:txBody>
      </p:sp>
      <p:sp>
        <p:nvSpPr>
          <p:cNvPr id="16" name="Text 14"/>
          <p:cNvSpPr/>
          <p:nvPr/>
        </p:nvSpPr>
        <p:spPr>
          <a:xfrm>
            <a:off x="320040" y="2551176"/>
            <a:ext cx="548640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2D2D2D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03</a:t>
            </a:r>
            <a:endParaRPr lang="en-US" sz="1500" dirty="0"/>
          </a:p>
        </p:txBody>
      </p:sp>
      <p:sp>
        <p:nvSpPr>
          <p:cNvPr id="17" name="Text 15"/>
          <p:cNvSpPr/>
          <p:nvPr/>
        </p:nvSpPr>
        <p:spPr>
          <a:xfrm>
            <a:off x="960120" y="2606040"/>
            <a:ext cx="2743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2D2D2D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Two Interface Modes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960120" y="2880360"/>
            <a:ext cx="769924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B7B6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 browser-based floating chat widget on a full landing page AND a Python command-line terminal interface</a:t>
            </a:r>
            <a:endParaRPr lang="en-US" sz="1000" dirty="0"/>
          </a:p>
        </p:txBody>
      </p:sp>
      <p:sp>
        <p:nvSpPr>
          <p:cNvPr id="19" name="Shape 17"/>
          <p:cNvSpPr/>
          <p:nvPr/>
        </p:nvSpPr>
        <p:spPr>
          <a:xfrm>
            <a:off x="320040" y="3346704"/>
            <a:ext cx="8458200" cy="694944"/>
          </a:xfrm>
          <a:prstGeom prst="rect">
            <a:avLst/>
          </a:prstGeom>
          <a:solidFill>
            <a:srgbClr val="F0EDE8"/>
          </a:solidFill>
          <a:ln w="12700">
            <a:solidFill>
              <a:srgbClr val="F59E0B">
                <a:alpha val="30000"/>
              </a:srgbClr>
            </a:solidFill>
            <a:prstDash val="solid"/>
          </a:ln>
          <a:effectLst>
            <a:outerShdw blurRad="101600" dist="38100" dir="8100000" algn="bl" rotWithShape="0">
              <a:srgbClr val="000000">
                <a:alpha val="25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20" name="Shape 18"/>
          <p:cNvSpPr/>
          <p:nvPr/>
        </p:nvSpPr>
        <p:spPr>
          <a:xfrm>
            <a:off x="320040" y="3346704"/>
            <a:ext cx="548640" cy="694944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1" name="Text 19"/>
          <p:cNvSpPr/>
          <p:nvPr/>
        </p:nvSpPr>
        <p:spPr>
          <a:xfrm>
            <a:off x="320040" y="3346704"/>
            <a:ext cx="548640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2D2D2D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04</a:t>
            </a:r>
            <a:endParaRPr lang="en-US" sz="1500" dirty="0"/>
          </a:p>
        </p:txBody>
      </p:sp>
      <p:sp>
        <p:nvSpPr>
          <p:cNvPr id="22" name="Text 20"/>
          <p:cNvSpPr/>
          <p:nvPr/>
        </p:nvSpPr>
        <p:spPr>
          <a:xfrm>
            <a:off x="960120" y="3401568"/>
            <a:ext cx="2743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2D2D2D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Zero Setup Barrier</a:t>
            </a:r>
            <a:endParaRPr lang="en-US" sz="1200" dirty="0"/>
          </a:p>
        </p:txBody>
      </p:sp>
      <p:sp>
        <p:nvSpPr>
          <p:cNvPr id="23" name="Text 21"/>
          <p:cNvSpPr/>
          <p:nvPr/>
        </p:nvSpPr>
        <p:spPr>
          <a:xfrm>
            <a:off x="960120" y="3675888"/>
            <a:ext cx="769924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B7B6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pip install flask → python app.py → done. No database, no API key, no model download, no configuration file</a:t>
            </a:r>
            <a:endParaRPr lang="en-US" sz="1000" dirty="0"/>
          </a:p>
        </p:txBody>
      </p:sp>
      <p:sp>
        <p:nvSpPr>
          <p:cNvPr id="24" name="Shape 22"/>
          <p:cNvSpPr/>
          <p:nvPr/>
        </p:nvSpPr>
        <p:spPr>
          <a:xfrm>
            <a:off x="320040" y="4142232"/>
            <a:ext cx="8458200" cy="694944"/>
          </a:xfrm>
          <a:prstGeom prst="rect">
            <a:avLst/>
          </a:prstGeom>
          <a:solidFill>
            <a:srgbClr val="F0EDE8"/>
          </a:solidFill>
          <a:ln w="12700">
            <a:solidFill>
              <a:srgbClr val="B87333">
                <a:alpha val="30000"/>
              </a:srgbClr>
            </a:solidFill>
            <a:prstDash val="solid"/>
          </a:ln>
          <a:effectLst>
            <a:outerShdw blurRad="101600" dist="38100" dir="8100000" algn="bl" rotWithShape="0">
              <a:srgbClr val="000000">
                <a:alpha val="25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25" name="Shape 23"/>
          <p:cNvSpPr/>
          <p:nvPr/>
        </p:nvSpPr>
        <p:spPr>
          <a:xfrm>
            <a:off x="320040" y="4142232"/>
            <a:ext cx="548640" cy="694944"/>
          </a:xfrm>
          <a:prstGeom prst="rect">
            <a:avLst/>
          </a:prstGeom>
          <a:solidFill>
            <a:srgbClr val="B87333"/>
          </a:solidFill>
          <a:ln w="12700">
            <a:solidFill>
              <a:srgbClr val="B87333"/>
            </a:solidFill>
            <a:prstDash val="solid"/>
          </a:ln>
        </p:spPr>
        <p:txBody>
          <a:bodyPr/>
          <a:lstStyle/>
          <a:p>
            <a:endParaRPr lang="en-IN">
              <a:solidFill>
                <a:srgbClr val="FFFFFF"/>
              </a:solidFill>
            </a:endParaRPr>
          </a:p>
        </p:txBody>
      </p:sp>
      <p:sp>
        <p:nvSpPr>
          <p:cNvPr id="26" name="Text 24"/>
          <p:cNvSpPr/>
          <p:nvPr/>
        </p:nvSpPr>
        <p:spPr>
          <a:xfrm>
            <a:off x="320040" y="4142232"/>
            <a:ext cx="548640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2D2D2D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05</a:t>
            </a:r>
            <a:endParaRPr lang="en-US" sz="1500" dirty="0"/>
          </a:p>
        </p:txBody>
      </p:sp>
      <p:sp>
        <p:nvSpPr>
          <p:cNvPr id="27" name="Text 25"/>
          <p:cNvSpPr/>
          <p:nvPr/>
        </p:nvSpPr>
        <p:spPr>
          <a:xfrm>
            <a:off x="960120" y="4197096"/>
            <a:ext cx="2743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2D2D2D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Complete Academic Documentation</a:t>
            </a:r>
            <a:endParaRPr lang="en-US" sz="1200" dirty="0"/>
          </a:p>
        </p:txBody>
      </p:sp>
      <p:sp>
        <p:nvSpPr>
          <p:cNvPr id="28" name="Text 26"/>
          <p:cNvSpPr/>
          <p:nvPr/>
        </p:nvSpPr>
        <p:spPr>
          <a:xfrm>
            <a:off x="960120" y="4471416"/>
            <a:ext cx="769924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B7B6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Project Proposal, HLD, LLD, Final Report — all following IBM Innovation Centre template — plus 7 WPPRs</a:t>
            </a:r>
            <a:endParaRPr lang="en-US" sz="1000" dirty="0"/>
          </a:p>
        </p:txBody>
      </p:sp>
    </p:spTree>
    <p:extLst>
      <p:ext uri="{BB962C8B-B14F-4D97-AF65-F5344CB8AC3E}">
        <p14:creationId xmlns:p14="http://schemas.microsoft.com/office/powerpoint/2010/main" val="1417018681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AF8F5">
            <a:alpha val="100000"/>
          </a:srgb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73152" cy="5143500"/>
          </a:xfrm>
          <a:prstGeom prst="rect">
            <a:avLst/>
          </a:prstGeom>
          <a:solidFill>
            <a:srgbClr val="B87333"/>
          </a:solidFill>
          <a:ln w="12700">
            <a:solidFill>
              <a:srgbClr val="B87333"/>
            </a:solidFill>
            <a:prstDash val="solid"/>
          </a:ln>
        </p:spPr>
        <p:txBody>
          <a:bodyPr/>
          <a:lstStyle/>
          <a:p>
            <a:endParaRPr lang="en-IN">
              <a:solidFill>
                <a:srgbClr val="FFFFFF"/>
              </a:solidFill>
            </a:endParaRPr>
          </a:p>
        </p:txBody>
      </p:sp>
      <p:sp>
        <p:nvSpPr>
          <p:cNvPr id="3" name="Text 1"/>
          <p:cNvSpPr/>
          <p:nvPr/>
        </p:nvSpPr>
        <p:spPr>
          <a:xfrm>
            <a:off x="365760" y="201168"/>
            <a:ext cx="841248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2D2D2D"/>
                </a:solidFill>
                <a:latin typeface="Georgia" pitchFamily="34" charset="0"/>
                <a:ea typeface="Segoe UI" pitchFamily="34" charset="-122"/>
                <a:cs typeface="Segoe UI" pitchFamily="34" charset="-120"/>
              </a:rPr>
              <a:t>Technology Stack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320040" y="868680"/>
            <a:ext cx="2788920" cy="384048"/>
          </a:xfrm>
          <a:prstGeom prst="rect">
            <a:avLst/>
          </a:prstGeom>
          <a:solidFill>
            <a:srgbClr val="B87333"/>
          </a:solidFill>
          <a:ln w="12700">
            <a:solidFill>
              <a:srgbClr val="B87333"/>
            </a:solidFill>
            <a:prstDash val="solid"/>
          </a:ln>
          <a:effectLst>
            <a:outerShdw blurRad="101600" dist="38100" dir="8100000" algn="bl" rotWithShape="0">
              <a:srgbClr val="000000">
                <a:alpha val="25000"/>
              </a:srgbClr>
            </a:outerShdw>
          </a:effectLst>
        </p:spPr>
        <p:txBody>
          <a:bodyPr/>
          <a:lstStyle/>
          <a:p>
            <a:endParaRPr lang="en-IN">
              <a:solidFill>
                <a:srgbClr val="FFFFFF"/>
              </a:solidFill>
            </a:endParaRPr>
          </a:p>
        </p:txBody>
      </p:sp>
      <p:sp>
        <p:nvSpPr>
          <p:cNvPr id="5" name="Text 3"/>
          <p:cNvSpPr/>
          <p:nvPr/>
        </p:nvSpPr>
        <p:spPr>
          <a:xfrm>
            <a:off x="320040" y="868680"/>
            <a:ext cx="27889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2D2D2D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Backend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320040" y="1353312"/>
            <a:ext cx="2788920" cy="1078992"/>
          </a:xfrm>
          <a:prstGeom prst="rect">
            <a:avLst/>
          </a:prstGeom>
          <a:solidFill>
            <a:srgbClr val="F0EDE8"/>
          </a:solidFill>
          <a:ln w="12700">
            <a:solidFill>
              <a:srgbClr val="B87333">
                <a:alpha val="25000"/>
              </a:srgbClr>
            </a:solidFill>
            <a:prstDash val="solid"/>
          </a:ln>
          <a:effectLst>
            <a:outerShdw blurRad="101600" dist="38100" dir="8100000" algn="bl" rotWithShape="0">
              <a:srgbClr val="000000">
                <a:alpha val="25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7" name="Text 5"/>
          <p:cNvSpPr/>
          <p:nvPr/>
        </p:nvSpPr>
        <p:spPr>
          <a:xfrm>
            <a:off x="393192" y="146304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endParaRPr lang="en-US" sz="2200" dirty="0"/>
          </a:p>
        </p:txBody>
      </p:sp>
      <p:sp>
        <p:nvSpPr>
          <p:cNvPr id="8" name="Text 6"/>
          <p:cNvSpPr/>
          <p:nvPr/>
        </p:nvSpPr>
        <p:spPr>
          <a:xfrm>
            <a:off x="886968" y="1426464"/>
            <a:ext cx="213969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2D2D2D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Python 3.11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886968" y="1737360"/>
            <a:ext cx="2139696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6B7B6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Core language — re, random, datetime modules</a:t>
            </a:r>
            <a:endParaRPr lang="en-US" sz="950" dirty="0"/>
          </a:p>
        </p:txBody>
      </p:sp>
      <p:sp>
        <p:nvSpPr>
          <p:cNvPr id="10" name="Shape 8"/>
          <p:cNvSpPr/>
          <p:nvPr/>
        </p:nvSpPr>
        <p:spPr>
          <a:xfrm>
            <a:off x="320040" y="2523744"/>
            <a:ext cx="2788920" cy="1078992"/>
          </a:xfrm>
          <a:prstGeom prst="rect">
            <a:avLst/>
          </a:prstGeom>
          <a:solidFill>
            <a:srgbClr val="F0EDE8"/>
          </a:solidFill>
          <a:ln w="12700">
            <a:solidFill>
              <a:srgbClr val="B87333">
                <a:alpha val="25000"/>
              </a:srgbClr>
            </a:solidFill>
            <a:prstDash val="solid"/>
          </a:ln>
          <a:effectLst>
            <a:outerShdw blurRad="101600" dist="38100" dir="8100000" algn="bl" rotWithShape="0">
              <a:srgbClr val="000000">
                <a:alpha val="25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11" name="Text 9"/>
          <p:cNvSpPr/>
          <p:nvPr/>
        </p:nvSpPr>
        <p:spPr>
          <a:xfrm>
            <a:off x="393192" y="2633472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endParaRPr lang="en-US" sz="2200" dirty="0"/>
          </a:p>
        </p:txBody>
      </p:sp>
      <p:sp>
        <p:nvSpPr>
          <p:cNvPr id="12" name="Text 10"/>
          <p:cNvSpPr/>
          <p:nvPr/>
        </p:nvSpPr>
        <p:spPr>
          <a:xfrm>
            <a:off x="886968" y="2596896"/>
            <a:ext cx="213969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2D2D2D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Flask 3.0.3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886968" y="2907792"/>
            <a:ext cx="2139696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6B7B6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Lightweight web framework + REST API server</a:t>
            </a:r>
            <a:endParaRPr lang="en-US" sz="950" dirty="0"/>
          </a:p>
        </p:txBody>
      </p:sp>
      <p:sp>
        <p:nvSpPr>
          <p:cNvPr id="14" name="Shape 12"/>
          <p:cNvSpPr/>
          <p:nvPr/>
        </p:nvSpPr>
        <p:spPr>
          <a:xfrm>
            <a:off x="320040" y="3694176"/>
            <a:ext cx="2788920" cy="1078992"/>
          </a:xfrm>
          <a:prstGeom prst="rect">
            <a:avLst/>
          </a:prstGeom>
          <a:solidFill>
            <a:srgbClr val="F0EDE8"/>
          </a:solidFill>
          <a:ln w="12700">
            <a:solidFill>
              <a:srgbClr val="B87333">
                <a:alpha val="25000"/>
              </a:srgbClr>
            </a:solidFill>
            <a:prstDash val="solid"/>
          </a:ln>
          <a:effectLst>
            <a:outerShdw blurRad="101600" dist="38100" dir="8100000" algn="bl" rotWithShape="0">
              <a:srgbClr val="000000">
                <a:alpha val="25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15" name="Text 13"/>
          <p:cNvSpPr/>
          <p:nvPr/>
        </p:nvSpPr>
        <p:spPr>
          <a:xfrm>
            <a:off x="393192" y="3803904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endParaRPr lang="en-US" sz="2200" dirty="0"/>
          </a:p>
        </p:txBody>
      </p:sp>
      <p:sp>
        <p:nvSpPr>
          <p:cNvPr id="16" name="Text 14"/>
          <p:cNvSpPr/>
          <p:nvPr/>
        </p:nvSpPr>
        <p:spPr>
          <a:xfrm>
            <a:off x="886968" y="3767328"/>
            <a:ext cx="213969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2D2D2D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FINANCE_KB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886968" y="4078224"/>
            <a:ext cx="2139696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6B7B6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In-memory Python dict — zero database needed</a:t>
            </a:r>
            <a:endParaRPr lang="en-US" sz="950" dirty="0"/>
          </a:p>
        </p:txBody>
      </p:sp>
      <p:sp>
        <p:nvSpPr>
          <p:cNvPr id="18" name="Shape 16"/>
          <p:cNvSpPr/>
          <p:nvPr/>
        </p:nvSpPr>
        <p:spPr>
          <a:xfrm>
            <a:off x="3246120" y="868680"/>
            <a:ext cx="2788920" cy="384048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  <a:effectLst>
            <a:outerShdw blurRad="101600" dist="38100" dir="8100000" algn="bl" rotWithShape="0">
              <a:srgbClr val="000000">
                <a:alpha val="25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19" name="Text 17"/>
          <p:cNvSpPr/>
          <p:nvPr/>
        </p:nvSpPr>
        <p:spPr>
          <a:xfrm>
            <a:off x="3246120" y="868680"/>
            <a:ext cx="27889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2D2D2D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Frontend</a:t>
            </a:r>
            <a:endParaRPr lang="en-US" sz="1400" dirty="0"/>
          </a:p>
        </p:txBody>
      </p:sp>
      <p:sp>
        <p:nvSpPr>
          <p:cNvPr id="20" name="Shape 18"/>
          <p:cNvSpPr/>
          <p:nvPr/>
        </p:nvSpPr>
        <p:spPr>
          <a:xfrm>
            <a:off x="3246120" y="1353312"/>
            <a:ext cx="2788920" cy="1078992"/>
          </a:xfrm>
          <a:prstGeom prst="rect">
            <a:avLst/>
          </a:prstGeom>
          <a:solidFill>
            <a:srgbClr val="F0EDE8"/>
          </a:solidFill>
          <a:ln w="12700">
            <a:solidFill>
              <a:srgbClr val="F59E0B">
                <a:alpha val="25000"/>
              </a:srgbClr>
            </a:solidFill>
            <a:prstDash val="solid"/>
          </a:ln>
          <a:effectLst>
            <a:outerShdw blurRad="101600" dist="38100" dir="8100000" algn="bl" rotWithShape="0">
              <a:srgbClr val="000000">
                <a:alpha val="25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21" name="Text 19"/>
          <p:cNvSpPr/>
          <p:nvPr/>
        </p:nvSpPr>
        <p:spPr>
          <a:xfrm>
            <a:off x="3319272" y="146304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endParaRPr lang="en-US" sz="2200" dirty="0"/>
          </a:p>
        </p:txBody>
      </p:sp>
      <p:sp>
        <p:nvSpPr>
          <p:cNvPr id="22" name="Text 20"/>
          <p:cNvSpPr/>
          <p:nvPr/>
        </p:nvSpPr>
        <p:spPr>
          <a:xfrm>
            <a:off x="3813048" y="1426464"/>
            <a:ext cx="213969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2D2D2D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HTML5 + CSS3</a:t>
            </a:r>
            <a:endParaRPr lang="en-US" sz="1200" dirty="0"/>
          </a:p>
        </p:txBody>
      </p:sp>
      <p:sp>
        <p:nvSpPr>
          <p:cNvPr id="23" name="Text 21"/>
          <p:cNvSpPr/>
          <p:nvPr/>
        </p:nvSpPr>
        <p:spPr>
          <a:xfrm>
            <a:off x="3813048" y="1737360"/>
            <a:ext cx="2139696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6B7B6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Single-file — no build tools required</a:t>
            </a:r>
            <a:endParaRPr lang="en-US" sz="950" dirty="0"/>
          </a:p>
        </p:txBody>
      </p:sp>
      <p:sp>
        <p:nvSpPr>
          <p:cNvPr id="24" name="Shape 22"/>
          <p:cNvSpPr/>
          <p:nvPr/>
        </p:nvSpPr>
        <p:spPr>
          <a:xfrm>
            <a:off x="3246120" y="2523744"/>
            <a:ext cx="2788920" cy="1078992"/>
          </a:xfrm>
          <a:prstGeom prst="rect">
            <a:avLst/>
          </a:prstGeom>
          <a:solidFill>
            <a:srgbClr val="F0EDE8"/>
          </a:solidFill>
          <a:ln w="12700">
            <a:solidFill>
              <a:srgbClr val="F59E0B">
                <a:alpha val="25000"/>
              </a:srgbClr>
            </a:solidFill>
            <a:prstDash val="solid"/>
          </a:ln>
          <a:effectLst>
            <a:outerShdw blurRad="101600" dist="38100" dir="8100000" algn="bl" rotWithShape="0">
              <a:srgbClr val="000000">
                <a:alpha val="25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25" name="Text 23"/>
          <p:cNvSpPr/>
          <p:nvPr/>
        </p:nvSpPr>
        <p:spPr>
          <a:xfrm>
            <a:off x="3319272" y="2633472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endParaRPr lang="en-US" sz="2200" dirty="0"/>
          </a:p>
        </p:txBody>
      </p:sp>
      <p:sp>
        <p:nvSpPr>
          <p:cNvPr id="26" name="Text 24"/>
          <p:cNvSpPr/>
          <p:nvPr/>
        </p:nvSpPr>
        <p:spPr>
          <a:xfrm>
            <a:off x="3813048" y="2596896"/>
            <a:ext cx="213969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2D2D2D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Vanilla JS</a:t>
            </a:r>
            <a:endParaRPr lang="en-US" sz="1200" dirty="0"/>
          </a:p>
        </p:txBody>
      </p:sp>
      <p:sp>
        <p:nvSpPr>
          <p:cNvPr id="27" name="Text 25"/>
          <p:cNvSpPr/>
          <p:nvPr/>
        </p:nvSpPr>
        <p:spPr>
          <a:xfrm>
            <a:off x="3813048" y="2907792"/>
            <a:ext cx="2139696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6B7B6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Fetch API, DOM manipulation, animations</a:t>
            </a:r>
            <a:endParaRPr lang="en-US" sz="950" dirty="0"/>
          </a:p>
        </p:txBody>
      </p:sp>
      <p:sp>
        <p:nvSpPr>
          <p:cNvPr id="28" name="Shape 26"/>
          <p:cNvSpPr/>
          <p:nvPr/>
        </p:nvSpPr>
        <p:spPr>
          <a:xfrm>
            <a:off x="3246120" y="3694176"/>
            <a:ext cx="2788920" cy="1078992"/>
          </a:xfrm>
          <a:prstGeom prst="rect">
            <a:avLst/>
          </a:prstGeom>
          <a:solidFill>
            <a:srgbClr val="F0EDE8"/>
          </a:solidFill>
          <a:ln w="12700">
            <a:solidFill>
              <a:srgbClr val="F59E0B">
                <a:alpha val="25000"/>
              </a:srgbClr>
            </a:solidFill>
            <a:prstDash val="solid"/>
          </a:ln>
          <a:effectLst>
            <a:outerShdw blurRad="101600" dist="38100" dir="8100000" algn="bl" rotWithShape="0">
              <a:srgbClr val="000000">
                <a:alpha val="25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29" name="Text 27"/>
          <p:cNvSpPr/>
          <p:nvPr/>
        </p:nvSpPr>
        <p:spPr>
          <a:xfrm>
            <a:off x="3319272" y="3803904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endParaRPr lang="en-US" sz="2200" dirty="0"/>
          </a:p>
        </p:txBody>
      </p:sp>
      <p:sp>
        <p:nvSpPr>
          <p:cNvPr id="30" name="Text 28"/>
          <p:cNvSpPr/>
          <p:nvPr/>
        </p:nvSpPr>
        <p:spPr>
          <a:xfrm>
            <a:off x="3813048" y="3767328"/>
            <a:ext cx="213969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2D2D2D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Custom Parser</a:t>
            </a:r>
            <a:endParaRPr lang="en-US" sz="1200" dirty="0"/>
          </a:p>
        </p:txBody>
      </p:sp>
      <p:sp>
        <p:nvSpPr>
          <p:cNvPr id="31" name="Text 29"/>
          <p:cNvSpPr/>
          <p:nvPr/>
        </p:nvSpPr>
        <p:spPr>
          <a:xfrm>
            <a:off x="3813048" y="4078224"/>
            <a:ext cx="2139696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6B7B6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Markdown → HTML converter for chat bubbles</a:t>
            </a:r>
            <a:endParaRPr lang="en-US" sz="950" dirty="0"/>
          </a:p>
        </p:txBody>
      </p:sp>
      <p:sp>
        <p:nvSpPr>
          <p:cNvPr id="32" name="Shape 30"/>
          <p:cNvSpPr/>
          <p:nvPr/>
        </p:nvSpPr>
        <p:spPr>
          <a:xfrm>
            <a:off x="6172200" y="868680"/>
            <a:ext cx="2788920" cy="384048"/>
          </a:xfrm>
          <a:prstGeom prst="rect">
            <a:avLst/>
          </a:prstGeom>
          <a:solidFill>
            <a:srgbClr val="A855F7"/>
          </a:solidFill>
          <a:ln w="12700">
            <a:solidFill>
              <a:srgbClr val="A855F7"/>
            </a:solidFill>
            <a:prstDash val="solid"/>
          </a:ln>
          <a:effectLst>
            <a:outerShdw blurRad="101600" dist="38100" dir="8100000" algn="bl" rotWithShape="0">
              <a:srgbClr val="000000">
                <a:alpha val="25000"/>
              </a:srgbClr>
            </a:outerShdw>
          </a:effectLst>
        </p:spPr>
        <p:txBody>
          <a:bodyPr/>
          <a:lstStyle/>
          <a:p>
            <a:endParaRPr lang="en-IN">
              <a:solidFill>
                <a:srgbClr val="FFFFFF"/>
              </a:solidFill>
            </a:endParaRPr>
          </a:p>
        </p:txBody>
      </p:sp>
      <p:sp>
        <p:nvSpPr>
          <p:cNvPr id="33" name="Text 31"/>
          <p:cNvSpPr/>
          <p:nvPr/>
        </p:nvSpPr>
        <p:spPr>
          <a:xfrm>
            <a:off x="6172200" y="868680"/>
            <a:ext cx="27889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2D2D2D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Dev Tools</a:t>
            </a:r>
            <a:endParaRPr lang="en-US" sz="1400" dirty="0"/>
          </a:p>
        </p:txBody>
      </p:sp>
      <p:sp>
        <p:nvSpPr>
          <p:cNvPr id="34" name="Shape 32"/>
          <p:cNvSpPr/>
          <p:nvPr/>
        </p:nvSpPr>
        <p:spPr>
          <a:xfrm>
            <a:off x="6172200" y="1353312"/>
            <a:ext cx="2788920" cy="1078992"/>
          </a:xfrm>
          <a:prstGeom prst="rect">
            <a:avLst/>
          </a:prstGeom>
          <a:solidFill>
            <a:srgbClr val="F0EDE8"/>
          </a:solidFill>
          <a:ln w="12700">
            <a:solidFill>
              <a:srgbClr val="A855F7">
                <a:alpha val="25000"/>
              </a:srgbClr>
            </a:solidFill>
            <a:prstDash val="solid"/>
          </a:ln>
          <a:effectLst>
            <a:outerShdw blurRad="101600" dist="38100" dir="8100000" algn="bl" rotWithShape="0">
              <a:srgbClr val="000000">
                <a:alpha val="25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35" name="Text 33"/>
          <p:cNvSpPr/>
          <p:nvPr/>
        </p:nvSpPr>
        <p:spPr>
          <a:xfrm>
            <a:off x="6245352" y="146304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endParaRPr lang="en-US" sz="2200" dirty="0"/>
          </a:p>
        </p:txBody>
      </p:sp>
      <p:sp>
        <p:nvSpPr>
          <p:cNvPr id="36" name="Text 34"/>
          <p:cNvSpPr/>
          <p:nvPr/>
        </p:nvSpPr>
        <p:spPr>
          <a:xfrm>
            <a:off x="6739128" y="1426464"/>
            <a:ext cx="213969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2D2D2D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VS Code</a:t>
            </a:r>
            <a:endParaRPr lang="en-US" sz="1200" dirty="0"/>
          </a:p>
        </p:txBody>
      </p:sp>
      <p:sp>
        <p:nvSpPr>
          <p:cNvPr id="37" name="Text 35"/>
          <p:cNvSpPr/>
          <p:nvPr/>
        </p:nvSpPr>
        <p:spPr>
          <a:xfrm>
            <a:off x="6739128" y="1737360"/>
            <a:ext cx="2139696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6B7B6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Editor with Python + Pylance extensions</a:t>
            </a:r>
            <a:endParaRPr lang="en-US" sz="950" dirty="0"/>
          </a:p>
        </p:txBody>
      </p:sp>
      <p:sp>
        <p:nvSpPr>
          <p:cNvPr id="38" name="Shape 36"/>
          <p:cNvSpPr/>
          <p:nvPr/>
        </p:nvSpPr>
        <p:spPr>
          <a:xfrm>
            <a:off x="6172200" y="2523744"/>
            <a:ext cx="2788920" cy="1078992"/>
          </a:xfrm>
          <a:prstGeom prst="rect">
            <a:avLst/>
          </a:prstGeom>
          <a:solidFill>
            <a:srgbClr val="F0EDE8"/>
          </a:solidFill>
          <a:ln w="12700">
            <a:solidFill>
              <a:srgbClr val="A855F7">
                <a:alpha val="25000"/>
              </a:srgbClr>
            </a:solidFill>
            <a:prstDash val="solid"/>
          </a:ln>
          <a:effectLst>
            <a:outerShdw blurRad="101600" dist="38100" dir="8100000" algn="bl" rotWithShape="0">
              <a:srgbClr val="000000">
                <a:alpha val="25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39" name="Text 37"/>
          <p:cNvSpPr/>
          <p:nvPr/>
        </p:nvSpPr>
        <p:spPr>
          <a:xfrm>
            <a:off x="6245352" y="2633472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endParaRPr lang="en-US" sz="2200" dirty="0"/>
          </a:p>
        </p:txBody>
      </p:sp>
      <p:sp>
        <p:nvSpPr>
          <p:cNvPr id="40" name="Text 38"/>
          <p:cNvSpPr/>
          <p:nvPr/>
        </p:nvSpPr>
        <p:spPr>
          <a:xfrm>
            <a:off x="6739128" y="2596896"/>
            <a:ext cx="213969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2D2D2D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Git + GitHub</a:t>
            </a:r>
            <a:endParaRPr lang="en-US" sz="1200" dirty="0"/>
          </a:p>
        </p:txBody>
      </p:sp>
      <p:sp>
        <p:nvSpPr>
          <p:cNvPr id="41" name="Text 39"/>
          <p:cNvSpPr/>
          <p:nvPr/>
        </p:nvSpPr>
        <p:spPr>
          <a:xfrm>
            <a:off x="6739128" y="2907792"/>
            <a:ext cx="2139696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6B7B6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Version control + remote repository</a:t>
            </a:r>
            <a:endParaRPr lang="en-US" sz="950" dirty="0"/>
          </a:p>
        </p:txBody>
      </p:sp>
      <p:sp>
        <p:nvSpPr>
          <p:cNvPr id="42" name="Shape 40"/>
          <p:cNvSpPr/>
          <p:nvPr/>
        </p:nvSpPr>
        <p:spPr>
          <a:xfrm>
            <a:off x="6172200" y="3694176"/>
            <a:ext cx="2788920" cy="1078992"/>
          </a:xfrm>
          <a:prstGeom prst="rect">
            <a:avLst/>
          </a:prstGeom>
          <a:solidFill>
            <a:srgbClr val="F0EDE8"/>
          </a:solidFill>
          <a:ln w="12700">
            <a:solidFill>
              <a:srgbClr val="A855F7">
                <a:alpha val="25000"/>
              </a:srgbClr>
            </a:solidFill>
            <a:prstDash val="solid"/>
          </a:ln>
          <a:effectLst>
            <a:outerShdw blurRad="101600" dist="38100" dir="8100000" algn="bl" rotWithShape="0">
              <a:srgbClr val="000000">
                <a:alpha val="25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43" name="Text 41"/>
          <p:cNvSpPr/>
          <p:nvPr/>
        </p:nvSpPr>
        <p:spPr>
          <a:xfrm>
            <a:off x="6245352" y="3803904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endParaRPr lang="en-US" sz="2200" dirty="0"/>
          </a:p>
        </p:txBody>
      </p:sp>
      <p:sp>
        <p:nvSpPr>
          <p:cNvPr id="44" name="Text 42"/>
          <p:cNvSpPr/>
          <p:nvPr/>
        </p:nvSpPr>
        <p:spPr>
          <a:xfrm>
            <a:off x="6739128" y="3767328"/>
            <a:ext cx="213969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2D2D2D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WSL (Ubuntu)</a:t>
            </a:r>
            <a:endParaRPr lang="en-US" sz="1200" dirty="0"/>
          </a:p>
        </p:txBody>
      </p:sp>
      <p:sp>
        <p:nvSpPr>
          <p:cNvPr id="45" name="Text 43"/>
          <p:cNvSpPr/>
          <p:nvPr/>
        </p:nvSpPr>
        <p:spPr>
          <a:xfrm>
            <a:off x="6739128" y="4078224"/>
            <a:ext cx="2139696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6B7B6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Linux dev environment on Windows 11</a:t>
            </a:r>
            <a:endParaRPr lang="en-US" sz="950" dirty="0"/>
          </a:p>
        </p:txBody>
      </p:sp>
    </p:spTree>
    <p:extLst>
      <p:ext uri="{BB962C8B-B14F-4D97-AF65-F5344CB8AC3E}">
        <p14:creationId xmlns:p14="http://schemas.microsoft.com/office/powerpoint/2010/main" val="2854512149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AF8F5">
            <a:alpha val="100000"/>
          </a:srgb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73152" cy="5143500"/>
          </a:xfrm>
          <a:prstGeom prst="rect">
            <a:avLst/>
          </a:prstGeom>
          <a:solidFill>
            <a:srgbClr val="B87333"/>
          </a:solidFill>
          <a:ln w="12700">
            <a:solidFill>
              <a:srgbClr val="B87333"/>
            </a:solidFill>
            <a:prstDash val="solid"/>
          </a:ln>
        </p:spPr>
        <p:txBody>
          <a:bodyPr/>
          <a:lstStyle/>
          <a:p>
            <a:endParaRPr lang="en-IN">
              <a:solidFill>
                <a:srgbClr val="FFFFFF"/>
              </a:solidFill>
            </a:endParaRPr>
          </a:p>
        </p:txBody>
      </p:sp>
      <p:sp>
        <p:nvSpPr>
          <p:cNvPr id="3" name="Text 1"/>
          <p:cNvSpPr/>
          <p:nvPr/>
        </p:nvSpPr>
        <p:spPr>
          <a:xfrm>
            <a:off x="365760" y="201168"/>
            <a:ext cx="84124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2D2D2D"/>
                </a:solidFill>
                <a:latin typeface="Georgia" pitchFamily="34" charset="0"/>
                <a:ea typeface="Segoe UI" pitchFamily="34" charset="-122"/>
                <a:cs typeface="Segoe UI" pitchFamily="34" charset="-120"/>
              </a:rPr>
              <a:t>System Architecture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365760" y="658368"/>
            <a:ext cx="8412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B8733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4-Layer Separation of Concerns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320040" y="1024128"/>
            <a:ext cx="8458200" cy="841248"/>
          </a:xfrm>
          <a:prstGeom prst="rect">
            <a:avLst/>
          </a:prstGeom>
          <a:solidFill>
            <a:srgbClr val="F0EDE8"/>
          </a:solidFill>
          <a:ln w="12700">
            <a:solidFill>
              <a:srgbClr val="B87333">
                <a:alpha val="40000"/>
              </a:srgbClr>
            </a:solidFill>
            <a:prstDash val="solid"/>
          </a:ln>
          <a:effectLst>
            <a:outerShdw blurRad="101600" dist="38100" dir="8100000" algn="bl" rotWithShape="0">
              <a:srgbClr val="000000">
                <a:alpha val="25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6" name="Shape 4"/>
          <p:cNvSpPr/>
          <p:nvPr/>
        </p:nvSpPr>
        <p:spPr>
          <a:xfrm>
            <a:off x="320040" y="1024128"/>
            <a:ext cx="128016" cy="841248"/>
          </a:xfrm>
          <a:prstGeom prst="rect">
            <a:avLst/>
          </a:prstGeom>
          <a:solidFill>
            <a:srgbClr val="B87333"/>
          </a:solidFill>
          <a:ln w="12700">
            <a:solidFill>
              <a:srgbClr val="B87333"/>
            </a:solidFill>
            <a:prstDash val="solid"/>
          </a:ln>
        </p:spPr>
        <p:txBody>
          <a:bodyPr/>
          <a:lstStyle/>
          <a:p>
            <a:endParaRPr lang="en-IN">
              <a:solidFill>
                <a:srgbClr val="FFFFFF"/>
              </a:solidFill>
            </a:endParaRPr>
          </a:p>
        </p:txBody>
      </p:sp>
      <p:sp>
        <p:nvSpPr>
          <p:cNvPr id="7" name="Text 5"/>
          <p:cNvSpPr/>
          <p:nvPr/>
        </p:nvSpPr>
        <p:spPr>
          <a:xfrm>
            <a:off x="548640" y="1060704"/>
            <a:ext cx="3474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B8733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LAYER 1 — User Interface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548640" y="1353312"/>
            <a:ext cx="811987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2D2D2D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▸  finbot_website.html  (Web Chat Widget)</a:t>
            </a:r>
            <a:endParaRPr lang="en-US" sz="1050" dirty="0"/>
          </a:p>
        </p:txBody>
      </p:sp>
      <p:sp>
        <p:nvSpPr>
          <p:cNvPr id="9" name="Text 7"/>
          <p:cNvSpPr/>
          <p:nvPr/>
        </p:nvSpPr>
        <p:spPr>
          <a:xfrm>
            <a:off x="548640" y="1591056"/>
            <a:ext cx="811987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2D2D2D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▸  run_cli()  in chatbot_engine.py  (Terminal)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320040" y="1993392"/>
            <a:ext cx="8458200" cy="841248"/>
          </a:xfrm>
          <a:prstGeom prst="rect">
            <a:avLst/>
          </a:prstGeom>
          <a:solidFill>
            <a:srgbClr val="F0EDE8"/>
          </a:solidFill>
          <a:ln w="12700">
            <a:solidFill>
              <a:srgbClr val="F59E0B">
                <a:alpha val="40000"/>
              </a:srgbClr>
            </a:solidFill>
            <a:prstDash val="solid"/>
          </a:ln>
          <a:effectLst>
            <a:outerShdw blurRad="101600" dist="38100" dir="8100000" algn="bl" rotWithShape="0">
              <a:srgbClr val="000000">
                <a:alpha val="25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11" name="Shape 9"/>
          <p:cNvSpPr/>
          <p:nvPr/>
        </p:nvSpPr>
        <p:spPr>
          <a:xfrm>
            <a:off x="320040" y="1993392"/>
            <a:ext cx="128016" cy="841248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2" name="Text 10"/>
          <p:cNvSpPr/>
          <p:nvPr/>
        </p:nvSpPr>
        <p:spPr>
          <a:xfrm>
            <a:off x="548640" y="2029968"/>
            <a:ext cx="3474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59E0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LAYER 2 — Communication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548640" y="2322576"/>
            <a:ext cx="811987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2D2D2D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▸  JavaScript Fetch API  →  POST /api/chat  (Web)</a:t>
            </a:r>
            <a:endParaRPr lang="en-US" sz="1050" dirty="0"/>
          </a:p>
        </p:txBody>
      </p:sp>
      <p:sp>
        <p:nvSpPr>
          <p:cNvPr id="14" name="Text 12"/>
          <p:cNvSpPr/>
          <p:nvPr/>
        </p:nvSpPr>
        <p:spPr>
          <a:xfrm>
            <a:off x="548640" y="2560320"/>
            <a:ext cx="811987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2D2D2D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▸  Python input() / print()  (CLI)</a:t>
            </a:r>
            <a:endParaRPr lang="en-US" sz="1050" dirty="0"/>
          </a:p>
        </p:txBody>
      </p:sp>
      <p:sp>
        <p:nvSpPr>
          <p:cNvPr id="15" name="Shape 13"/>
          <p:cNvSpPr/>
          <p:nvPr/>
        </p:nvSpPr>
        <p:spPr>
          <a:xfrm>
            <a:off x="320040" y="2962656"/>
            <a:ext cx="8458200" cy="841248"/>
          </a:xfrm>
          <a:prstGeom prst="rect">
            <a:avLst/>
          </a:prstGeom>
          <a:solidFill>
            <a:srgbClr val="F0EDE8"/>
          </a:solidFill>
          <a:ln w="12700">
            <a:solidFill>
              <a:srgbClr val="A855F7">
                <a:alpha val="40000"/>
              </a:srgbClr>
            </a:solidFill>
            <a:prstDash val="solid"/>
          </a:ln>
          <a:effectLst>
            <a:outerShdw blurRad="101600" dist="38100" dir="8100000" algn="bl" rotWithShape="0">
              <a:srgbClr val="000000">
                <a:alpha val="25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16" name="Shape 14"/>
          <p:cNvSpPr/>
          <p:nvPr/>
        </p:nvSpPr>
        <p:spPr>
          <a:xfrm>
            <a:off x="320040" y="2962656"/>
            <a:ext cx="128016" cy="841248"/>
          </a:xfrm>
          <a:prstGeom prst="rect">
            <a:avLst/>
          </a:prstGeom>
          <a:solidFill>
            <a:srgbClr val="A855F7"/>
          </a:solidFill>
          <a:ln w="12700">
            <a:solidFill>
              <a:srgbClr val="A855F7"/>
            </a:solidFill>
            <a:prstDash val="solid"/>
          </a:ln>
        </p:spPr>
        <p:txBody>
          <a:bodyPr/>
          <a:lstStyle/>
          <a:p>
            <a:endParaRPr lang="en-IN">
              <a:solidFill>
                <a:srgbClr val="FFFFFF"/>
              </a:solidFill>
            </a:endParaRPr>
          </a:p>
        </p:txBody>
      </p:sp>
      <p:sp>
        <p:nvSpPr>
          <p:cNvPr id="17" name="Text 15"/>
          <p:cNvSpPr/>
          <p:nvPr/>
        </p:nvSpPr>
        <p:spPr>
          <a:xfrm>
            <a:off x="548640" y="2999232"/>
            <a:ext cx="3474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A855F7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LAYER 3 — Application Logic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548640" y="3291840"/>
            <a:ext cx="811987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2D2D2D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▸  app.py  →  Flask server  (3 REST routes)</a:t>
            </a:r>
            <a:endParaRPr lang="en-US" sz="1050" dirty="0"/>
          </a:p>
        </p:txBody>
      </p:sp>
      <p:sp>
        <p:nvSpPr>
          <p:cNvPr id="19" name="Text 17"/>
          <p:cNvSpPr/>
          <p:nvPr/>
        </p:nvSpPr>
        <p:spPr>
          <a:xfrm>
            <a:off x="548640" y="3529584"/>
            <a:ext cx="811987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2D2D2D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▸  chatbot_engine.py  →  preprocess() + score_category() + get_response()</a:t>
            </a:r>
            <a:endParaRPr lang="en-US" sz="1050" dirty="0"/>
          </a:p>
        </p:txBody>
      </p:sp>
      <p:sp>
        <p:nvSpPr>
          <p:cNvPr id="20" name="Shape 18"/>
          <p:cNvSpPr/>
          <p:nvPr/>
        </p:nvSpPr>
        <p:spPr>
          <a:xfrm>
            <a:off x="320040" y="3931920"/>
            <a:ext cx="8458200" cy="841248"/>
          </a:xfrm>
          <a:prstGeom prst="rect">
            <a:avLst/>
          </a:prstGeom>
          <a:solidFill>
            <a:srgbClr val="F0EDE8"/>
          </a:solidFill>
          <a:ln w="12700">
            <a:solidFill>
              <a:srgbClr val="22C55E">
                <a:alpha val="40000"/>
              </a:srgbClr>
            </a:solidFill>
            <a:prstDash val="solid"/>
          </a:ln>
          <a:effectLst>
            <a:outerShdw blurRad="101600" dist="38100" dir="8100000" algn="bl" rotWithShape="0">
              <a:srgbClr val="000000">
                <a:alpha val="25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21" name="Shape 19"/>
          <p:cNvSpPr/>
          <p:nvPr/>
        </p:nvSpPr>
        <p:spPr>
          <a:xfrm>
            <a:off x="320040" y="3931920"/>
            <a:ext cx="128016" cy="841248"/>
          </a:xfrm>
          <a:prstGeom prst="rect">
            <a:avLst/>
          </a:prstGeom>
          <a:solidFill>
            <a:srgbClr val="22C55E"/>
          </a:solidFill>
          <a:ln w="12700">
            <a:solidFill>
              <a:srgbClr val="22C55E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2" name="Text 20"/>
          <p:cNvSpPr/>
          <p:nvPr/>
        </p:nvSpPr>
        <p:spPr>
          <a:xfrm>
            <a:off x="548640" y="3968496"/>
            <a:ext cx="3474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22C55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LAYER 4 — Data</a:t>
            </a:r>
            <a:endParaRPr lang="en-US" sz="1100" dirty="0"/>
          </a:p>
        </p:txBody>
      </p:sp>
      <p:sp>
        <p:nvSpPr>
          <p:cNvPr id="23" name="Text 21"/>
          <p:cNvSpPr/>
          <p:nvPr/>
        </p:nvSpPr>
        <p:spPr>
          <a:xfrm>
            <a:off x="548640" y="4261104"/>
            <a:ext cx="811987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2D2D2D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▸  FINANCE_KB Python dict  (always in RAM)</a:t>
            </a:r>
            <a:endParaRPr lang="en-US" sz="1050" dirty="0"/>
          </a:p>
        </p:txBody>
      </p:sp>
      <p:sp>
        <p:nvSpPr>
          <p:cNvPr id="24" name="Text 22"/>
          <p:cNvSpPr/>
          <p:nvPr/>
        </p:nvSpPr>
        <p:spPr>
          <a:xfrm>
            <a:off x="548640" y="4498848"/>
            <a:ext cx="811987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2D2D2D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▸  13 topics · 123 keywords · 25 responses · No database</a:t>
            </a:r>
            <a:endParaRPr lang="en-US" sz="1050" dirty="0"/>
          </a:p>
        </p:txBody>
      </p:sp>
      <p:sp>
        <p:nvSpPr>
          <p:cNvPr id="25" name="Shape 23"/>
          <p:cNvSpPr/>
          <p:nvPr/>
        </p:nvSpPr>
        <p:spPr>
          <a:xfrm>
            <a:off x="4297680" y="1865376"/>
            <a:ext cx="548640" cy="128016"/>
          </a:xfrm>
          <a:prstGeom prst="rect">
            <a:avLst/>
          </a:prstGeom>
          <a:solidFill>
            <a:srgbClr val="B87333">
              <a:alpha val="49804"/>
            </a:srgbClr>
          </a:solidFill>
          <a:ln w="12700">
            <a:solidFill>
              <a:srgbClr val="B87333">
                <a:alpha val="50000"/>
              </a:srgbClr>
            </a:solidFill>
            <a:prstDash val="solid"/>
          </a:ln>
        </p:spPr>
        <p:txBody>
          <a:bodyPr/>
          <a:lstStyle/>
          <a:p>
            <a:endParaRPr lang="en-IN">
              <a:solidFill>
                <a:srgbClr val="FFFFFF"/>
              </a:solidFill>
            </a:endParaRPr>
          </a:p>
        </p:txBody>
      </p:sp>
      <p:sp>
        <p:nvSpPr>
          <p:cNvPr id="26" name="Text 24"/>
          <p:cNvSpPr/>
          <p:nvPr/>
        </p:nvSpPr>
        <p:spPr>
          <a:xfrm>
            <a:off x="4279392" y="1847088"/>
            <a:ext cx="585216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FFFFFF"/>
                </a:solidFill>
              </a:rPr>
              <a:t>▼</a:t>
            </a:r>
            <a:endParaRPr lang="en-US" sz="900" dirty="0"/>
          </a:p>
        </p:txBody>
      </p:sp>
      <p:sp>
        <p:nvSpPr>
          <p:cNvPr id="27" name="Shape 25"/>
          <p:cNvSpPr/>
          <p:nvPr/>
        </p:nvSpPr>
        <p:spPr>
          <a:xfrm>
            <a:off x="4297680" y="2834640"/>
            <a:ext cx="548640" cy="128016"/>
          </a:xfrm>
          <a:prstGeom prst="rect">
            <a:avLst/>
          </a:prstGeom>
          <a:solidFill>
            <a:srgbClr val="B87333">
              <a:alpha val="49804"/>
            </a:srgbClr>
          </a:solidFill>
          <a:ln w="12700">
            <a:solidFill>
              <a:srgbClr val="B87333">
                <a:alpha val="50000"/>
              </a:srgbClr>
            </a:solidFill>
            <a:prstDash val="solid"/>
          </a:ln>
        </p:spPr>
        <p:txBody>
          <a:bodyPr/>
          <a:lstStyle/>
          <a:p>
            <a:endParaRPr lang="en-IN">
              <a:solidFill>
                <a:srgbClr val="FFFFFF"/>
              </a:solidFill>
            </a:endParaRPr>
          </a:p>
        </p:txBody>
      </p:sp>
      <p:sp>
        <p:nvSpPr>
          <p:cNvPr id="28" name="Text 26"/>
          <p:cNvSpPr/>
          <p:nvPr/>
        </p:nvSpPr>
        <p:spPr>
          <a:xfrm>
            <a:off x="4279392" y="2816352"/>
            <a:ext cx="585216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FFFFFF"/>
                </a:solidFill>
              </a:rPr>
              <a:t>▼</a:t>
            </a:r>
            <a:endParaRPr lang="en-US" sz="900" dirty="0"/>
          </a:p>
        </p:txBody>
      </p:sp>
      <p:sp>
        <p:nvSpPr>
          <p:cNvPr id="29" name="Shape 27"/>
          <p:cNvSpPr/>
          <p:nvPr/>
        </p:nvSpPr>
        <p:spPr>
          <a:xfrm>
            <a:off x="4297680" y="3803904"/>
            <a:ext cx="548640" cy="128016"/>
          </a:xfrm>
          <a:prstGeom prst="rect">
            <a:avLst/>
          </a:prstGeom>
          <a:solidFill>
            <a:srgbClr val="B87333">
              <a:alpha val="49804"/>
            </a:srgbClr>
          </a:solidFill>
          <a:ln w="12700">
            <a:solidFill>
              <a:srgbClr val="B87333">
                <a:alpha val="50000"/>
              </a:srgbClr>
            </a:solidFill>
            <a:prstDash val="solid"/>
          </a:ln>
        </p:spPr>
        <p:txBody>
          <a:bodyPr/>
          <a:lstStyle/>
          <a:p>
            <a:endParaRPr lang="en-IN">
              <a:solidFill>
                <a:srgbClr val="FFFFFF"/>
              </a:solidFill>
            </a:endParaRPr>
          </a:p>
        </p:txBody>
      </p:sp>
      <p:sp>
        <p:nvSpPr>
          <p:cNvPr id="30" name="Text 28"/>
          <p:cNvSpPr/>
          <p:nvPr/>
        </p:nvSpPr>
        <p:spPr>
          <a:xfrm>
            <a:off x="4279392" y="3785616"/>
            <a:ext cx="585216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FFFFFF"/>
                </a:solidFill>
              </a:rPr>
              <a:t>▼</a:t>
            </a:r>
            <a:endParaRPr lang="en-US" sz="900" dirty="0"/>
          </a:p>
        </p:txBody>
      </p:sp>
    </p:spTree>
    <p:extLst>
      <p:ext uri="{BB962C8B-B14F-4D97-AF65-F5344CB8AC3E}">
        <p14:creationId xmlns:p14="http://schemas.microsoft.com/office/powerpoint/2010/main" val="1311437345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AF8F5">
            <a:alpha val="100000"/>
          </a:srgb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73152" cy="5143500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" name="Text 1"/>
          <p:cNvSpPr/>
          <p:nvPr/>
        </p:nvSpPr>
        <p:spPr>
          <a:xfrm>
            <a:off x="365760" y="201168"/>
            <a:ext cx="84124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2D2D2D"/>
                </a:solidFill>
                <a:latin typeface="Georgia" pitchFamily="34" charset="0"/>
                <a:ea typeface="Segoe UI" pitchFamily="34" charset="-122"/>
                <a:cs typeface="Segoe UI" pitchFamily="34" charset="-120"/>
              </a:rPr>
              <a:t>NLP Engine — How It Works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365760" y="676656"/>
            <a:ext cx="8412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B8733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Weighted keyword scoring — no ML model — no external library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320040" y="1078992"/>
            <a:ext cx="1572768" cy="1371600"/>
          </a:xfrm>
          <a:prstGeom prst="rect">
            <a:avLst/>
          </a:prstGeom>
          <a:solidFill>
            <a:srgbClr val="F0EDE8"/>
          </a:solidFill>
          <a:ln w="12700">
            <a:solidFill>
              <a:srgbClr val="B87333">
                <a:alpha val="50000"/>
              </a:srgbClr>
            </a:solidFill>
            <a:prstDash val="solid"/>
          </a:ln>
          <a:effectLst>
            <a:outerShdw blurRad="101600" dist="38100" dir="8100000" algn="bl" rotWithShape="0">
              <a:srgbClr val="000000">
                <a:alpha val="25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6" name="Shape 4"/>
          <p:cNvSpPr/>
          <p:nvPr/>
        </p:nvSpPr>
        <p:spPr>
          <a:xfrm>
            <a:off x="320040" y="1078992"/>
            <a:ext cx="1572768" cy="347472"/>
          </a:xfrm>
          <a:prstGeom prst="rect">
            <a:avLst/>
          </a:prstGeom>
          <a:solidFill>
            <a:srgbClr val="B87333"/>
          </a:solidFill>
          <a:ln w="12700">
            <a:solidFill>
              <a:srgbClr val="B87333"/>
            </a:solidFill>
            <a:prstDash val="solid"/>
          </a:ln>
        </p:spPr>
        <p:txBody>
          <a:bodyPr/>
          <a:lstStyle/>
          <a:p>
            <a:endParaRPr lang="en-IN">
              <a:solidFill>
                <a:srgbClr val="FFFFFF"/>
              </a:solidFill>
            </a:endParaRPr>
          </a:p>
        </p:txBody>
      </p:sp>
      <p:sp>
        <p:nvSpPr>
          <p:cNvPr id="7" name="Text 5"/>
          <p:cNvSpPr/>
          <p:nvPr/>
        </p:nvSpPr>
        <p:spPr>
          <a:xfrm>
            <a:off x="320040" y="1078992"/>
            <a:ext cx="157276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2D2D2D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01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374904" y="1499616"/>
            <a:ext cx="14630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2D2D2D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User Input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374904" y="1810512"/>
            <a:ext cx="146304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6B7B6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"how to save income tax"</a:t>
            </a:r>
            <a:endParaRPr lang="en-US" sz="950" dirty="0"/>
          </a:p>
        </p:txBody>
      </p:sp>
      <p:sp>
        <p:nvSpPr>
          <p:cNvPr id="10" name="Text 8"/>
          <p:cNvSpPr/>
          <p:nvPr/>
        </p:nvSpPr>
        <p:spPr>
          <a:xfrm>
            <a:off x="1892808" y="1572768"/>
            <a:ext cx="1371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B87333"/>
                </a:solidFill>
              </a:rPr>
              <a:t>→</a:t>
            </a:r>
            <a:endParaRPr lang="en-US" sz="1400" dirty="0"/>
          </a:p>
        </p:txBody>
      </p:sp>
      <p:sp>
        <p:nvSpPr>
          <p:cNvPr id="11" name="Shape 9"/>
          <p:cNvSpPr/>
          <p:nvPr/>
        </p:nvSpPr>
        <p:spPr>
          <a:xfrm>
            <a:off x="2029968" y="1078992"/>
            <a:ext cx="1572768" cy="1371600"/>
          </a:xfrm>
          <a:prstGeom prst="rect">
            <a:avLst/>
          </a:prstGeom>
          <a:solidFill>
            <a:srgbClr val="F0EDE8"/>
          </a:solidFill>
          <a:ln w="12700">
            <a:solidFill>
              <a:srgbClr val="F59E0B">
                <a:alpha val="50000"/>
              </a:srgbClr>
            </a:solidFill>
            <a:prstDash val="solid"/>
          </a:ln>
          <a:effectLst>
            <a:outerShdw blurRad="101600" dist="38100" dir="8100000" algn="bl" rotWithShape="0">
              <a:srgbClr val="000000">
                <a:alpha val="25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12" name="Shape 10"/>
          <p:cNvSpPr/>
          <p:nvPr/>
        </p:nvSpPr>
        <p:spPr>
          <a:xfrm>
            <a:off x="2029968" y="1078992"/>
            <a:ext cx="1572768" cy="347472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3" name="Text 11"/>
          <p:cNvSpPr/>
          <p:nvPr/>
        </p:nvSpPr>
        <p:spPr>
          <a:xfrm>
            <a:off x="2029968" y="1078992"/>
            <a:ext cx="157276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2D2D2D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02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2084832" y="1499616"/>
            <a:ext cx="14630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2D2D2D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preprocess()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2084832" y="1810512"/>
            <a:ext cx="146304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6B7B6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lowercase · strip punct · tokenize</a:t>
            </a:r>
            <a:endParaRPr lang="en-US" sz="950" dirty="0"/>
          </a:p>
        </p:txBody>
      </p:sp>
      <p:sp>
        <p:nvSpPr>
          <p:cNvPr id="16" name="Text 14"/>
          <p:cNvSpPr/>
          <p:nvPr/>
        </p:nvSpPr>
        <p:spPr>
          <a:xfrm>
            <a:off x="3602736" y="1572768"/>
            <a:ext cx="1371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B87333"/>
                </a:solidFill>
              </a:rPr>
              <a:t>→</a:t>
            </a:r>
            <a:endParaRPr lang="en-US" sz="1400" dirty="0"/>
          </a:p>
        </p:txBody>
      </p:sp>
      <p:sp>
        <p:nvSpPr>
          <p:cNvPr id="17" name="Shape 15"/>
          <p:cNvSpPr/>
          <p:nvPr/>
        </p:nvSpPr>
        <p:spPr>
          <a:xfrm>
            <a:off x="3739896" y="1078992"/>
            <a:ext cx="1572768" cy="1371600"/>
          </a:xfrm>
          <a:prstGeom prst="rect">
            <a:avLst/>
          </a:prstGeom>
          <a:solidFill>
            <a:srgbClr val="F0EDE8"/>
          </a:solidFill>
          <a:ln w="12700">
            <a:solidFill>
              <a:srgbClr val="A855F7">
                <a:alpha val="50000"/>
              </a:srgbClr>
            </a:solidFill>
            <a:prstDash val="solid"/>
          </a:ln>
          <a:effectLst>
            <a:outerShdw blurRad="101600" dist="38100" dir="8100000" algn="bl" rotWithShape="0">
              <a:srgbClr val="000000">
                <a:alpha val="25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18" name="Shape 16"/>
          <p:cNvSpPr/>
          <p:nvPr/>
        </p:nvSpPr>
        <p:spPr>
          <a:xfrm>
            <a:off x="3739896" y="1078992"/>
            <a:ext cx="1572768" cy="347472"/>
          </a:xfrm>
          <a:prstGeom prst="rect">
            <a:avLst/>
          </a:prstGeom>
          <a:solidFill>
            <a:srgbClr val="A855F7"/>
          </a:solidFill>
          <a:ln w="12700">
            <a:solidFill>
              <a:srgbClr val="A855F7"/>
            </a:solidFill>
            <a:prstDash val="solid"/>
          </a:ln>
        </p:spPr>
        <p:txBody>
          <a:bodyPr/>
          <a:lstStyle/>
          <a:p>
            <a:endParaRPr lang="en-IN">
              <a:solidFill>
                <a:srgbClr val="FFFFFF"/>
              </a:solidFill>
            </a:endParaRPr>
          </a:p>
        </p:txBody>
      </p:sp>
      <p:sp>
        <p:nvSpPr>
          <p:cNvPr id="19" name="Text 17"/>
          <p:cNvSpPr/>
          <p:nvPr/>
        </p:nvSpPr>
        <p:spPr>
          <a:xfrm>
            <a:off x="3739896" y="1078992"/>
            <a:ext cx="157276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2D2D2D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03</a:t>
            </a:r>
            <a:endParaRPr lang="en-US" sz="1400" dirty="0"/>
          </a:p>
        </p:txBody>
      </p:sp>
      <p:sp>
        <p:nvSpPr>
          <p:cNvPr id="20" name="Text 18"/>
          <p:cNvSpPr/>
          <p:nvPr/>
        </p:nvSpPr>
        <p:spPr>
          <a:xfrm>
            <a:off x="3794760" y="1499616"/>
            <a:ext cx="14630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2D2D2D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score_category()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3794760" y="1810512"/>
            <a:ext cx="146304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6B7B6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score all 13 topics with 3/2/1 weights</a:t>
            </a:r>
            <a:endParaRPr lang="en-US" sz="950" dirty="0"/>
          </a:p>
        </p:txBody>
      </p:sp>
      <p:sp>
        <p:nvSpPr>
          <p:cNvPr id="22" name="Text 20"/>
          <p:cNvSpPr/>
          <p:nvPr/>
        </p:nvSpPr>
        <p:spPr>
          <a:xfrm>
            <a:off x="5312664" y="1572768"/>
            <a:ext cx="1371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B87333"/>
                </a:solidFill>
              </a:rPr>
              <a:t>→</a:t>
            </a:r>
            <a:endParaRPr lang="en-US" sz="1400" dirty="0"/>
          </a:p>
        </p:txBody>
      </p:sp>
      <p:sp>
        <p:nvSpPr>
          <p:cNvPr id="23" name="Shape 21"/>
          <p:cNvSpPr/>
          <p:nvPr/>
        </p:nvSpPr>
        <p:spPr>
          <a:xfrm>
            <a:off x="5449824" y="1078992"/>
            <a:ext cx="1572768" cy="1371600"/>
          </a:xfrm>
          <a:prstGeom prst="rect">
            <a:avLst/>
          </a:prstGeom>
          <a:solidFill>
            <a:srgbClr val="F0EDE8"/>
          </a:solidFill>
          <a:ln w="12700">
            <a:solidFill>
              <a:srgbClr val="B87333">
                <a:alpha val="50000"/>
              </a:srgbClr>
            </a:solidFill>
            <a:prstDash val="solid"/>
          </a:ln>
          <a:effectLst>
            <a:outerShdw blurRad="101600" dist="38100" dir="8100000" algn="bl" rotWithShape="0">
              <a:srgbClr val="000000">
                <a:alpha val="25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24" name="Shape 22"/>
          <p:cNvSpPr/>
          <p:nvPr/>
        </p:nvSpPr>
        <p:spPr>
          <a:xfrm>
            <a:off x="5449824" y="1078992"/>
            <a:ext cx="1572768" cy="347472"/>
          </a:xfrm>
          <a:prstGeom prst="rect">
            <a:avLst/>
          </a:prstGeom>
          <a:solidFill>
            <a:srgbClr val="B87333"/>
          </a:solidFill>
          <a:ln w="12700">
            <a:solidFill>
              <a:srgbClr val="B87333"/>
            </a:solidFill>
            <a:prstDash val="solid"/>
          </a:ln>
        </p:spPr>
        <p:txBody>
          <a:bodyPr/>
          <a:lstStyle/>
          <a:p>
            <a:endParaRPr lang="en-IN">
              <a:solidFill>
                <a:srgbClr val="FFFFFF"/>
              </a:solidFill>
            </a:endParaRPr>
          </a:p>
        </p:txBody>
      </p:sp>
      <p:sp>
        <p:nvSpPr>
          <p:cNvPr id="25" name="Text 23"/>
          <p:cNvSpPr/>
          <p:nvPr/>
        </p:nvSpPr>
        <p:spPr>
          <a:xfrm>
            <a:off x="5449824" y="1078992"/>
            <a:ext cx="157276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2D2D2D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04</a:t>
            </a:r>
            <a:endParaRPr lang="en-US" sz="1400" dirty="0"/>
          </a:p>
        </p:txBody>
      </p:sp>
      <p:sp>
        <p:nvSpPr>
          <p:cNvPr id="26" name="Text 24"/>
          <p:cNvSpPr/>
          <p:nvPr/>
        </p:nvSpPr>
        <p:spPr>
          <a:xfrm>
            <a:off x="5504688" y="1499616"/>
            <a:ext cx="14630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2D2D2D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max(scores)</a:t>
            </a:r>
            <a:endParaRPr lang="en-US" sz="1100" dirty="0"/>
          </a:p>
        </p:txBody>
      </p:sp>
      <p:sp>
        <p:nvSpPr>
          <p:cNvPr id="27" name="Text 25"/>
          <p:cNvSpPr/>
          <p:nvPr/>
        </p:nvSpPr>
        <p:spPr>
          <a:xfrm>
            <a:off x="5504688" y="1810512"/>
            <a:ext cx="146304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6B7B6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select highest-scoring category</a:t>
            </a:r>
            <a:endParaRPr lang="en-US" sz="950" dirty="0"/>
          </a:p>
        </p:txBody>
      </p:sp>
      <p:sp>
        <p:nvSpPr>
          <p:cNvPr id="28" name="Text 26"/>
          <p:cNvSpPr/>
          <p:nvPr/>
        </p:nvSpPr>
        <p:spPr>
          <a:xfrm>
            <a:off x="7022592" y="1572768"/>
            <a:ext cx="1371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B87333"/>
                </a:solidFill>
              </a:rPr>
              <a:t>→</a:t>
            </a:r>
            <a:endParaRPr lang="en-US" sz="1400" dirty="0"/>
          </a:p>
        </p:txBody>
      </p:sp>
      <p:sp>
        <p:nvSpPr>
          <p:cNvPr id="29" name="Shape 27"/>
          <p:cNvSpPr/>
          <p:nvPr/>
        </p:nvSpPr>
        <p:spPr>
          <a:xfrm>
            <a:off x="7159752" y="1078992"/>
            <a:ext cx="1572768" cy="1371600"/>
          </a:xfrm>
          <a:prstGeom prst="rect">
            <a:avLst/>
          </a:prstGeom>
          <a:solidFill>
            <a:srgbClr val="F0EDE8"/>
          </a:solidFill>
          <a:ln w="12700">
            <a:solidFill>
              <a:srgbClr val="F59E0B">
                <a:alpha val="50000"/>
              </a:srgbClr>
            </a:solidFill>
            <a:prstDash val="solid"/>
          </a:ln>
          <a:effectLst>
            <a:outerShdw blurRad="101600" dist="38100" dir="8100000" algn="bl" rotWithShape="0">
              <a:srgbClr val="000000">
                <a:alpha val="25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30" name="Shape 28"/>
          <p:cNvSpPr/>
          <p:nvPr/>
        </p:nvSpPr>
        <p:spPr>
          <a:xfrm>
            <a:off x="7159752" y="1078992"/>
            <a:ext cx="1572768" cy="347472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1" name="Text 29"/>
          <p:cNvSpPr/>
          <p:nvPr/>
        </p:nvSpPr>
        <p:spPr>
          <a:xfrm>
            <a:off x="7159752" y="1078992"/>
            <a:ext cx="157276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2D2D2D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05</a:t>
            </a:r>
            <a:endParaRPr lang="en-US" sz="1400" dirty="0"/>
          </a:p>
        </p:txBody>
      </p:sp>
      <p:sp>
        <p:nvSpPr>
          <p:cNvPr id="32" name="Text 30"/>
          <p:cNvSpPr/>
          <p:nvPr/>
        </p:nvSpPr>
        <p:spPr>
          <a:xfrm>
            <a:off x="7214616" y="1499616"/>
            <a:ext cx="14630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2D2D2D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Build Response</a:t>
            </a:r>
            <a:endParaRPr lang="en-US" sz="1100" dirty="0"/>
          </a:p>
        </p:txBody>
      </p:sp>
      <p:sp>
        <p:nvSpPr>
          <p:cNvPr id="33" name="Text 31"/>
          <p:cNvSpPr/>
          <p:nvPr/>
        </p:nvSpPr>
        <p:spPr>
          <a:xfrm>
            <a:off x="7214616" y="1810512"/>
            <a:ext cx="146304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6B7B6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random.choice() + confidence + followup</a:t>
            </a:r>
            <a:endParaRPr lang="en-US" sz="950" dirty="0"/>
          </a:p>
        </p:txBody>
      </p:sp>
      <p:sp>
        <p:nvSpPr>
          <p:cNvPr id="34" name="Text 32"/>
          <p:cNvSpPr/>
          <p:nvPr/>
        </p:nvSpPr>
        <p:spPr>
          <a:xfrm>
            <a:off x="320040" y="2670048"/>
            <a:ext cx="41148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2D2D2D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Scoring Algorithm</a:t>
            </a:r>
            <a:endParaRPr lang="en-US" sz="1400" dirty="0"/>
          </a:p>
        </p:txBody>
      </p:sp>
      <p:graphicFrame>
        <p:nvGraphicFramePr>
          <p:cNvPr id="35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90038141"/>
              </p:ext>
            </p:extLst>
          </p:nvPr>
        </p:nvGraphicFramePr>
        <p:xfrm>
          <a:off x="320040" y="2999232"/>
          <a:ext cx="5029200" cy="1755648"/>
        </p:xfrm>
        <a:graphic>
          <a:graphicData uri="http://schemas.openxmlformats.org/drawingml/2006/table">
            <a:tbl>
              <a:tblPr/>
              <a:tblGrid>
                <a:gridCol w="18288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37744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82296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438912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b="1" dirty="0">
                          <a:solidFill>
                            <a:srgbClr val="2D2D2D"/>
                          </a:solidFill>
                        </a:rPr>
                        <a:t>Match Type</a:t>
                      </a:r>
                      <a:endParaRPr lang="en-US" sz="1100" dirty="0"/>
                    </a:p>
                  </a:txBody>
                  <a:tcPr>
                    <a:lnL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87333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b="1" dirty="0">
                          <a:solidFill>
                            <a:srgbClr val="2D2D2D"/>
                          </a:solidFill>
                        </a:rPr>
                        <a:t>Condition</a:t>
                      </a:r>
                      <a:endParaRPr lang="en-US" sz="1100" dirty="0"/>
                    </a:p>
                  </a:txBody>
                  <a:tcPr>
                    <a:lnL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87333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b="1" dirty="0">
                          <a:solidFill>
                            <a:srgbClr val="2D2D2D"/>
                          </a:solidFill>
                        </a:rPr>
                        <a:t>Points</a:t>
                      </a:r>
                      <a:endParaRPr lang="en-US" sz="1100" dirty="0"/>
                    </a:p>
                  </a:txBody>
                  <a:tcPr>
                    <a:lnL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8733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38912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FFC000"/>
                          </a:solidFill>
                        </a:rPr>
                        <a:t>Multi-word phrase</a:t>
                      </a:r>
                    </a:p>
                  </a:txBody>
                  <a:tcPr>
                    <a:lnL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5204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E2E8F0"/>
                          </a:solidFill>
                        </a:rPr>
                        <a:t>"income tax" in joined tokens</a:t>
                      </a:r>
                      <a:endParaRPr lang="en-US" sz="1050" dirty="0"/>
                    </a:p>
                  </a:txBody>
                  <a:tcPr>
                    <a:lnL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5204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b="1" dirty="0">
                          <a:solidFill>
                            <a:srgbClr val="F59E0B"/>
                          </a:solidFill>
                        </a:rPr>
                        <a:t>3 pts</a:t>
                      </a:r>
                      <a:endParaRPr lang="en-US" sz="1100" dirty="0"/>
                    </a:p>
                  </a:txBody>
                  <a:tcPr>
                    <a:lnL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5204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38912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FFC000"/>
                          </a:solidFill>
                        </a:rPr>
                        <a:t>Exact word match</a:t>
                      </a:r>
                    </a:p>
                  </a:txBody>
                  <a:tcPr>
                    <a:lnL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E4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E2E8F0"/>
                          </a:solidFill>
                        </a:rPr>
                        <a:t>"tax" in token set</a:t>
                      </a:r>
                      <a:endParaRPr lang="en-US" sz="1050" dirty="0"/>
                    </a:p>
                  </a:txBody>
                  <a:tcPr>
                    <a:lnL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E4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b="1" dirty="0">
                          <a:solidFill>
                            <a:srgbClr val="B87333"/>
                          </a:solidFill>
                        </a:rPr>
                        <a:t>2 pts</a:t>
                      </a:r>
                      <a:endParaRPr lang="en-US" sz="1100" dirty="0"/>
                    </a:p>
                  </a:txBody>
                  <a:tcPr>
                    <a:lnL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E4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38912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FFC000"/>
                          </a:solidFill>
                        </a:rPr>
                        <a:t>Partial match</a:t>
                      </a:r>
                    </a:p>
                  </a:txBody>
                  <a:tcPr>
                    <a:lnL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5204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E2E8F0"/>
                          </a:solidFill>
                        </a:rPr>
                        <a:t>"tax" in any token substring</a:t>
                      </a:r>
                      <a:endParaRPr lang="en-US" sz="1050" dirty="0"/>
                    </a:p>
                  </a:txBody>
                  <a:tcPr>
                    <a:lnL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5204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b="1" dirty="0">
                          <a:solidFill>
                            <a:srgbClr val="94A3B8"/>
                          </a:solidFill>
                        </a:rPr>
                        <a:t>1 pt</a:t>
                      </a:r>
                      <a:endParaRPr lang="en-US" sz="1100" dirty="0"/>
                    </a:p>
                  </a:txBody>
                  <a:tcPr>
                    <a:lnL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5204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36" name="Shape 33"/>
          <p:cNvSpPr/>
          <p:nvPr/>
        </p:nvSpPr>
        <p:spPr>
          <a:xfrm>
            <a:off x="5577840" y="2670048"/>
            <a:ext cx="3218688" cy="2084832"/>
          </a:xfrm>
          <a:prstGeom prst="rect">
            <a:avLst/>
          </a:prstGeom>
          <a:solidFill>
            <a:srgbClr val="F0EDE8"/>
          </a:solidFill>
          <a:ln w="12700">
            <a:solidFill>
              <a:srgbClr val="F59E0B">
                <a:alpha val="40000"/>
              </a:srgbClr>
            </a:solidFill>
            <a:prstDash val="solid"/>
          </a:ln>
          <a:effectLst>
            <a:outerShdw blurRad="101600" dist="38100" dir="8100000" algn="bl" rotWithShape="0">
              <a:srgbClr val="000000">
                <a:alpha val="25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37" name="Text 34"/>
          <p:cNvSpPr/>
          <p:nvPr/>
        </p:nvSpPr>
        <p:spPr>
          <a:xfrm>
            <a:off x="5669280" y="2743200"/>
            <a:ext cx="303580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59E0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Confidence Formula</a:t>
            </a:r>
            <a:endParaRPr lang="en-US" sz="1100" dirty="0"/>
          </a:p>
        </p:txBody>
      </p:sp>
      <p:sp>
        <p:nvSpPr>
          <p:cNvPr id="38" name="Text 35"/>
          <p:cNvSpPr/>
          <p:nvPr/>
        </p:nvSpPr>
        <p:spPr>
          <a:xfrm>
            <a:off x="5669280" y="3063240"/>
            <a:ext cx="3035808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2D2D2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confidence =</a:t>
            </a:r>
            <a:endParaRPr lang="en-US" sz="1300" dirty="0"/>
          </a:p>
          <a:p>
            <a:pPr marL="0" indent="0" algn="ctr">
              <a:buNone/>
            </a:pPr>
            <a:r>
              <a:rPr lang="en-US" sz="1300" b="1" dirty="0">
                <a:solidFill>
                  <a:srgbClr val="2D2D2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min(100, best_score × 20)</a:t>
            </a:r>
            <a:endParaRPr lang="en-US" sz="1300" dirty="0"/>
          </a:p>
        </p:txBody>
      </p:sp>
      <p:sp>
        <p:nvSpPr>
          <p:cNvPr id="39" name="Text 36"/>
          <p:cNvSpPr/>
          <p:nvPr/>
        </p:nvSpPr>
        <p:spPr>
          <a:xfrm>
            <a:off x="5669280" y="3767328"/>
            <a:ext cx="303580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6B7B6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Score 5 → 100%</a:t>
            </a:r>
            <a:endParaRPr lang="en-US" sz="1100" dirty="0"/>
          </a:p>
          <a:p>
            <a:pPr marL="0" indent="0" algn="ctr">
              <a:buNone/>
            </a:pPr>
            <a:r>
              <a:rPr lang="en-US" sz="1100" dirty="0">
                <a:solidFill>
                  <a:srgbClr val="6B7B6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Score 3 → 60%</a:t>
            </a:r>
            <a:endParaRPr lang="en-US" sz="1100" dirty="0"/>
          </a:p>
          <a:p>
            <a:pPr marL="0" indent="0" algn="ctr">
              <a:buNone/>
            </a:pPr>
            <a:r>
              <a:rPr lang="en-US" sz="1100" dirty="0">
                <a:solidFill>
                  <a:srgbClr val="6B7B6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Score 1 → 20%</a:t>
            </a:r>
            <a:endParaRPr lang="en-US" sz="1100" dirty="0"/>
          </a:p>
        </p:txBody>
      </p:sp>
    </p:spTree>
    <p:extLst>
      <p:ext uri="{BB962C8B-B14F-4D97-AF65-F5344CB8AC3E}">
        <p14:creationId xmlns:p14="http://schemas.microsoft.com/office/powerpoint/2010/main" val="2117794898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AF8F5">
            <a:alpha val="100000"/>
          </a:srgb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73152" cy="5143500"/>
          </a:xfrm>
          <a:prstGeom prst="rect">
            <a:avLst/>
          </a:prstGeom>
          <a:solidFill>
            <a:srgbClr val="B87333"/>
          </a:solidFill>
          <a:ln w="12700">
            <a:solidFill>
              <a:srgbClr val="B87333"/>
            </a:solidFill>
            <a:prstDash val="solid"/>
          </a:ln>
        </p:spPr>
        <p:txBody>
          <a:bodyPr/>
          <a:lstStyle/>
          <a:p>
            <a:endParaRPr lang="en-IN">
              <a:solidFill>
                <a:srgbClr val="FFFFFF"/>
              </a:solidFill>
            </a:endParaRPr>
          </a:p>
        </p:txBody>
      </p:sp>
      <p:sp>
        <p:nvSpPr>
          <p:cNvPr id="3" name="Text 1"/>
          <p:cNvSpPr/>
          <p:nvPr/>
        </p:nvSpPr>
        <p:spPr>
          <a:xfrm>
            <a:off x="365760" y="201168"/>
            <a:ext cx="84124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2D2D2D"/>
                </a:solidFill>
                <a:latin typeface="Georgia" pitchFamily="34" charset="0"/>
                <a:ea typeface="Segoe UI" pitchFamily="34" charset="-122"/>
                <a:cs typeface="Segoe UI" pitchFamily="34" charset="-120"/>
              </a:rPr>
              <a:t>Finance Knowledge Base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365760" y="676656"/>
            <a:ext cx="8412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B8733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FINANCE_KB  —  13 topics · 123 keywords · 25 responses  —  In-memory Python dictionary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320040" y="1024128"/>
            <a:ext cx="1581912" cy="1225296"/>
          </a:xfrm>
          <a:prstGeom prst="rect">
            <a:avLst/>
          </a:prstGeom>
          <a:solidFill>
            <a:srgbClr val="F0EDE8"/>
          </a:solidFill>
          <a:ln w="12700">
            <a:solidFill>
              <a:srgbClr val="B87333">
                <a:alpha val="40000"/>
              </a:srgbClr>
            </a:solidFill>
            <a:prstDash val="solid"/>
          </a:ln>
          <a:effectLst>
            <a:outerShdw blurRad="101600" dist="38100" dir="8100000" algn="bl" rotWithShape="0">
              <a:srgbClr val="000000">
                <a:alpha val="25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6" name="Text 4"/>
          <p:cNvSpPr/>
          <p:nvPr/>
        </p:nvSpPr>
        <p:spPr>
          <a:xfrm>
            <a:off x="320040" y="1133856"/>
            <a:ext cx="1581912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400" dirty="0">
                <a:solidFill>
                  <a:srgbClr val="000000"/>
                </a:solidFill>
              </a:rPr>
              <a:t>📈</a:t>
            </a:r>
            <a:endParaRPr lang="en-US" sz="2400" dirty="0"/>
          </a:p>
        </p:txBody>
      </p:sp>
      <p:sp>
        <p:nvSpPr>
          <p:cNvPr id="7" name="Text 5"/>
          <p:cNvSpPr/>
          <p:nvPr/>
        </p:nvSpPr>
        <p:spPr>
          <a:xfrm>
            <a:off x="374904" y="1591056"/>
            <a:ext cx="1463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2D2D2D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Stocks</a:t>
            </a:r>
            <a:endParaRPr lang="en-US" sz="1050" dirty="0"/>
          </a:p>
        </p:txBody>
      </p:sp>
      <p:sp>
        <p:nvSpPr>
          <p:cNvPr id="8" name="Text 6"/>
          <p:cNvSpPr/>
          <p:nvPr/>
        </p:nvSpPr>
        <p:spPr>
          <a:xfrm>
            <a:off x="374904" y="1883664"/>
            <a:ext cx="14630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6B7B6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12 kw  |  2 resp</a:t>
            </a:r>
            <a:endParaRPr lang="en-US" sz="850" dirty="0"/>
          </a:p>
        </p:txBody>
      </p:sp>
      <p:sp>
        <p:nvSpPr>
          <p:cNvPr id="9" name="Shape 7"/>
          <p:cNvSpPr/>
          <p:nvPr/>
        </p:nvSpPr>
        <p:spPr>
          <a:xfrm>
            <a:off x="2039112" y="1024128"/>
            <a:ext cx="1581912" cy="1225296"/>
          </a:xfrm>
          <a:prstGeom prst="rect">
            <a:avLst/>
          </a:prstGeom>
          <a:solidFill>
            <a:srgbClr val="F0EDE8"/>
          </a:solidFill>
          <a:ln w="12700">
            <a:solidFill>
              <a:srgbClr val="B87333">
                <a:alpha val="40000"/>
              </a:srgbClr>
            </a:solidFill>
            <a:prstDash val="solid"/>
          </a:ln>
          <a:effectLst>
            <a:outerShdw blurRad="101600" dist="38100" dir="8100000" algn="bl" rotWithShape="0">
              <a:srgbClr val="000000">
                <a:alpha val="25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10" name="Text 8"/>
          <p:cNvSpPr/>
          <p:nvPr/>
        </p:nvSpPr>
        <p:spPr>
          <a:xfrm>
            <a:off x="2039112" y="1133856"/>
            <a:ext cx="1581912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400" dirty="0">
                <a:solidFill>
                  <a:srgbClr val="000000"/>
                </a:solidFill>
              </a:rPr>
              <a:t>💰</a:t>
            </a:r>
            <a:endParaRPr lang="en-US" sz="2400" dirty="0"/>
          </a:p>
        </p:txBody>
      </p:sp>
      <p:sp>
        <p:nvSpPr>
          <p:cNvPr id="11" name="Text 9"/>
          <p:cNvSpPr/>
          <p:nvPr/>
        </p:nvSpPr>
        <p:spPr>
          <a:xfrm>
            <a:off x="2093976" y="1591056"/>
            <a:ext cx="1463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2D2D2D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Budgeting</a:t>
            </a:r>
            <a:endParaRPr lang="en-US" sz="1050" dirty="0"/>
          </a:p>
        </p:txBody>
      </p:sp>
      <p:sp>
        <p:nvSpPr>
          <p:cNvPr id="12" name="Text 10"/>
          <p:cNvSpPr/>
          <p:nvPr/>
        </p:nvSpPr>
        <p:spPr>
          <a:xfrm>
            <a:off x="2093976" y="1883664"/>
            <a:ext cx="14630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6B7B6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10 kw  |  2 resp</a:t>
            </a:r>
            <a:endParaRPr lang="en-US" sz="850" dirty="0"/>
          </a:p>
        </p:txBody>
      </p:sp>
      <p:sp>
        <p:nvSpPr>
          <p:cNvPr id="13" name="Shape 11"/>
          <p:cNvSpPr/>
          <p:nvPr/>
        </p:nvSpPr>
        <p:spPr>
          <a:xfrm>
            <a:off x="3758184" y="1024128"/>
            <a:ext cx="1581912" cy="1225296"/>
          </a:xfrm>
          <a:prstGeom prst="rect">
            <a:avLst/>
          </a:prstGeom>
          <a:solidFill>
            <a:srgbClr val="F0EDE8"/>
          </a:solidFill>
          <a:ln w="12700">
            <a:solidFill>
              <a:srgbClr val="B87333">
                <a:alpha val="40000"/>
              </a:srgbClr>
            </a:solidFill>
            <a:prstDash val="solid"/>
          </a:ln>
          <a:effectLst>
            <a:outerShdw blurRad="101600" dist="38100" dir="8100000" algn="bl" rotWithShape="0">
              <a:srgbClr val="000000">
                <a:alpha val="25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14" name="Text 12"/>
          <p:cNvSpPr/>
          <p:nvPr/>
        </p:nvSpPr>
        <p:spPr>
          <a:xfrm>
            <a:off x="3758184" y="1133856"/>
            <a:ext cx="1581912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400" dirty="0">
                <a:solidFill>
                  <a:srgbClr val="000000"/>
                </a:solidFill>
              </a:rPr>
              <a:t>🏦</a:t>
            </a:r>
            <a:endParaRPr lang="en-US" sz="2400" dirty="0"/>
          </a:p>
        </p:txBody>
      </p:sp>
      <p:sp>
        <p:nvSpPr>
          <p:cNvPr id="15" name="Text 13"/>
          <p:cNvSpPr/>
          <p:nvPr/>
        </p:nvSpPr>
        <p:spPr>
          <a:xfrm>
            <a:off x="3813048" y="1591056"/>
            <a:ext cx="1463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2D2D2D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Loans/EMI</a:t>
            </a:r>
            <a:endParaRPr lang="en-US" sz="1050" dirty="0"/>
          </a:p>
        </p:txBody>
      </p:sp>
      <p:sp>
        <p:nvSpPr>
          <p:cNvPr id="16" name="Text 14"/>
          <p:cNvSpPr/>
          <p:nvPr/>
        </p:nvSpPr>
        <p:spPr>
          <a:xfrm>
            <a:off x="3813048" y="1883664"/>
            <a:ext cx="14630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6B7B6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11 kw  |  2 resp</a:t>
            </a:r>
            <a:endParaRPr lang="en-US" sz="850" dirty="0"/>
          </a:p>
        </p:txBody>
      </p:sp>
      <p:sp>
        <p:nvSpPr>
          <p:cNvPr id="17" name="Shape 15"/>
          <p:cNvSpPr/>
          <p:nvPr/>
        </p:nvSpPr>
        <p:spPr>
          <a:xfrm>
            <a:off x="5477256" y="1024128"/>
            <a:ext cx="1581912" cy="1225296"/>
          </a:xfrm>
          <a:prstGeom prst="rect">
            <a:avLst/>
          </a:prstGeom>
          <a:solidFill>
            <a:srgbClr val="F0EDE8"/>
          </a:solidFill>
          <a:ln w="12700">
            <a:solidFill>
              <a:srgbClr val="B87333">
                <a:alpha val="40000"/>
              </a:srgbClr>
            </a:solidFill>
            <a:prstDash val="solid"/>
          </a:ln>
          <a:effectLst>
            <a:outerShdw blurRad="101600" dist="38100" dir="8100000" algn="bl" rotWithShape="0">
              <a:srgbClr val="000000">
                <a:alpha val="25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18" name="Text 16"/>
          <p:cNvSpPr/>
          <p:nvPr/>
        </p:nvSpPr>
        <p:spPr>
          <a:xfrm>
            <a:off x="5477256" y="1133856"/>
            <a:ext cx="1581912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400" dirty="0">
                <a:solidFill>
                  <a:srgbClr val="000000"/>
                </a:solidFill>
              </a:rPr>
              <a:t>📦</a:t>
            </a:r>
            <a:endParaRPr lang="en-US" sz="2400" dirty="0"/>
          </a:p>
        </p:txBody>
      </p:sp>
      <p:sp>
        <p:nvSpPr>
          <p:cNvPr id="19" name="Text 17"/>
          <p:cNvSpPr/>
          <p:nvPr/>
        </p:nvSpPr>
        <p:spPr>
          <a:xfrm>
            <a:off x="5532120" y="1591056"/>
            <a:ext cx="1463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2D2D2D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Investments</a:t>
            </a:r>
            <a:endParaRPr lang="en-US" sz="1050" dirty="0"/>
          </a:p>
        </p:txBody>
      </p:sp>
      <p:sp>
        <p:nvSpPr>
          <p:cNvPr id="20" name="Text 18"/>
          <p:cNvSpPr/>
          <p:nvPr/>
        </p:nvSpPr>
        <p:spPr>
          <a:xfrm>
            <a:off x="5532120" y="1883664"/>
            <a:ext cx="14630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6B7B6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15 kw  |  2 resp</a:t>
            </a:r>
            <a:endParaRPr lang="en-US" sz="850" dirty="0"/>
          </a:p>
        </p:txBody>
      </p:sp>
      <p:sp>
        <p:nvSpPr>
          <p:cNvPr id="21" name="Shape 19"/>
          <p:cNvSpPr/>
          <p:nvPr/>
        </p:nvSpPr>
        <p:spPr>
          <a:xfrm>
            <a:off x="7196328" y="1024128"/>
            <a:ext cx="1581912" cy="1225296"/>
          </a:xfrm>
          <a:prstGeom prst="rect">
            <a:avLst/>
          </a:prstGeom>
          <a:solidFill>
            <a:srgbClr val="F0EDE8"/>
          </a:solidFill>
          <a:ln w="12700">
            <a:solidFill>
              <a:srgbClr val="B87333">
                <a:alpha val="40000"/>
              </a:srgbClr>
            </a:solidFill>
            <a:prstDash val="solid"/>
          </a:ln>
          <a:effectLst>
            <a:outerShdw blurRad="101600" dist="38100" dir="8100000" algn="bl" rotWithShape="0">
              <a:srgbClr val="000000">
                <a:alpha val="25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22" name="Text 20"/>
          <p:cNvSpPr/>
          <p:nvPr/>
        </p:nvSpPr>
        <p:spPr>
          <a:xfrm>
            <a:off x="7196328" y="1133856"/>
            <a:ext cx="1581912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400" dirty="0">
                <a:solidFill>
                  <a:srgbClr val="000000"/>
                </a:solidFill>
              </a:rPr>
              <a:t>🧾</a:t>
            </a:r>
            <a:endParaRPr lang="en-US" sz="2400" dirty="0"/>
          </a:p>
        </p:txBody>
      </p:sp>
      <p:sp>
        <p:nvSpPr>
          <p:cNvPr id="23" name="Text 21"/>
          <p:cNvSpPr/>
          <p:nvPr/>
        </p:nvSpPr>
        <p:spPr>
          <a:xfrm>
            <a:off x="7251192" y="1591056"/>
            <a:ext cx="1463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2D2D2D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Income Tax</a:t>
            </a:r>
            <a:endParaRPr lang="en-US" sz="1050" dirty="0"/>
          </a:p>
        </p:txBody>
      </p:sp>
      <p:sp>
        <p:nvSpPr>
          <p:cNvPr id="24" name="Text 22"/>
          <p:cNvSpPr/>
          <p:nvPr/>
        </p:nvSpPr>
        <p:spPr>
          <a:xfrm>
            <a:off x="7251192" y="1883664"/>
            <a:ext cx="14630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6B7B6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11 kw  |  2 resp</a:t>
            </a:r>
            <a:endParaRPr lang="en-US" sz="850" dirty="0"/>
          </a:p>
        </p:txBody>
      </p:sp>
      <p:sp>
        <p:nvSpPr>
          <p:cNvPr id="25" name="Shape 23"/>
          <p:cNvSpPr/>
          <p:nvPr/>
        </p:nvSpPr>
        <p:spPr>
          <a:xfrm>
            <a:off x="320040" y="2377440"/>
            <a:ext cx="1581912" cy="1225296"/>
          </a:xfrm>
          <a:prstGeom prst="rect">
            <a:avLst/>
          </a:prstGeom>
          <a:solidFill>
            <a:srgbClr val="F0EDE8"/>
          </a:solidFill>
          <a:ln w="12700">
            <a:solidFill>
              <a:srgbClr val="B87333">
                <a:alpha val="40000"/>
              </a:srgbClr>
            </a:solidFill>
            <a:prstDash val="solid"/>
          </a:ln>
          <a:effectLst>
            <a:outerShdw blurRad="101600" dist="38100" dir="8100000" algn="bl" rotWithShape="0">
              <a:srgbClr val="000000">
                <a:alpha val="25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26" name="Text 24"/>
          <p:cNvSpPr/>
          <p:nvPr/>
        </p:nvSpPr>
        <p:spPr>
          <a:xfrm>
            <a:off x="320040" y="2487168"/>
            <a:ext cx="1581912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400" dirty="0">
                <a:solidFill>
                  <a:srgbClr val="000000"/>
                </a:solidFill>
              </a:rPr>
              <a:t>🛡️</a:t>
            </a:r>
            <a:endParaRPr lang="en-US" sz="2400" dirty="0"/>
          </a:p>
        </p:txBody>
      </p:sp>
      <p:sp>
        <p:nvSpPr>
          <p:cNvPr id="27" name="Text 25"/>
          <p:cNvSpPr/>
          <p:nvPr/>
        </p:nvSpPr>
        <p:spPr>
          <a:xfrm>
            <a:off x="374904" y="2944368"/>
            <a:ext cx="1463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2D2D2D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Insurance</a:t>
            </a:r>
            <a:endParaRPr lang="en-US" sz="1050" dirty="0"/>
          </a:p>
        </p:txBody>
      </p:sp>
      <p:sp>
        <p:nvSpPr>
          <p:cNvPr id="28" name="Text 26"/>
          <p:cNvSpPr/>
          <p:nvPr/>
        </p:nvSpPr>
        <p:spPr>
          <a:xfrm>
            <a:off x="374904" y="3236976"/>
            <a:ext cx="14630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6B7B6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10 kw  |  2 resp</a:t>
            </a:r>
            <a:endParaRPr lang="en-US" sz="850" dirty="0"/>
          </a:p>
        </p:txBody>
      </p:sp>
      <p:sp>
        <p:nvSpPr>
          <p:cNvPr id="29" name="Shape 27"/>
          <p:cNvSpPr/>
          <p:nvPr/>
        </p:nvSpPr>
        <p:spPr>
          <a:xfrm>
            <a:off x="2039112" y="2377440"/>
            <a:ext cx="1581912" cy="1225296"/>
          </a:xfrm>
          <a:prstGeom prst="rect">
            <a:avLst/>
          </a:prstGeom>
          <a:solidFill>
            <a:srgbClr val="F0EDE8"/>
          </a:solidFill>
          <a:ln w="12700">
            <a:solidFill>
              <a:srgbClr val="B87333">
                <a:alpha val="40000"/>
              </a:srgbClr>
            </a:solidFill>
            <a:prstDash val="solid"/>
          </a:ln>
          <a:effectLst>
            <a:outerShdw blurRad="101600" dist="38100" dir="8100000" algn="bl" rotWithShape="0">
              <a:srgbClr val="000000">
                <a:alpha val="25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30" name="Text 28"/>
          <p:cNvSpPr/>
          <p:nvPr/>
        </p:nvSpPr>
        <p:spPr>
          <a:xfrm>
            <a:off x="2039112" y="2487168"/>
            <a:ext cx="1581912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400" dirty="0">
                <a:solidFill>
                  <a:srgbClr val="000000"/>
                </a:solidFill>
              </a:rPr>
              <a:t>🔗</a:t>
            </a:r>
            <a:endParaRPr lang="en-US" sz="2400" dirty="0"/>
          </a:p>
        </p:txBody>
      </p:sp>
      <p:sp>
        <p:nvSpPr>
          <p:cNvPr id="31" name="Text 29"/>
          <p:cNvSpPr/>
          <p:nvPr/>
        </p:nvSpPr>
        <p:spPr>
          <a:xfrm>
            <a:off x="2093976" y="2944368"/>
            <a:ext cx="1463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2D2D2D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Crypto</a:t>
            </a:r>
            <a:endParaRPr lang="en-US" sz="1050" dirty="0"/>
          </a:p>
        </p:txBody>
      </p:sp>
      <p:sp>
        <p:nvSpPr>
          <p:cNvPr id="32" name="Text 30"/>
          <p:cNvSpPr/>
          <p:nvPr/>
        </p:nvSpPr>
        <p:spPr>
          <a:xfrm>
            <a:off x="2093976" y="3236976"/>
            <a:ext cx="14630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6B7B6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11 kw  |  2 resp</a:t>
            </a:r>
            <a:endParaRPr lang="en-US" sz="850" dirty="0"/>
          </a:p>
        </p:txBody>
      </p:sp>
      <p:sp>
        <p:nvSpPr>
          <p:cNvPr id="33" name="Shape 31"/>
          <p:cNvSpPr/>
          <p:nvPr/>
        </p:nvSpPr>
        <p:spPr>
          <a:xfrm>
            <a:off x="3758184" y="2377440"/>
            <a:ext cx="1581912" cy="1225296"/>
          </a:xfrm>
          <a:prstGeom prst="rect">
            <a:avLst/>
          </a:prstGeom>
          <a:solidFill>
            <a:srgbClr val="F0EDE8"/>
          </a:solidFill>
          <a:ln w="12700">
            <a:solidFill>
              <a:srgbClr val="B87333">
                <a:alpha val="40000"/>
              </a:srgbClr>
            </a:solidFill>
            <a:prstDash val="solid"/>
          </a:ln>
          <a:effectLst>
            <a:outerShdw blurRad="101600" dist="38100" dir="8100000" algn="bl" rotWithShape="0">
              <a:srgbClr val="000000">
                <a:alpha val="25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34" name="Text 32"/>
          <p:cNvSpPr/>
          <p:nvPr/>
        </p:nvSpPr>
        <p:spPr>
          <a:xfrm>
            <a:off x="3758184" y="2487168"/>
            <a:ext cx="1581912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400" dirty="0">
                <a:solidFill>
                  <a:srgbClr val="000000"/>
                </a:solidFill>
              </a:rPr>
              <a:t>💾</a:t>
            </a:r>
            <a:endParaRPr lang="en-US" sz="2400" dirty="0"/>
          </a:p>
        </p:txBody>
      </p:sp>
      <p:sp>
        <p:nvSpPr>
          <p:cNvPr id="35" name="Text 33"/>
          <p:cNvSpPr/>
          <p:nvPr/>
        </p:nvSpPr>
        <p:spPr>
          <a:xfrm>
            <a:off x="3813048" y="2944368"/>
            <a:ext cx="1463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2D2D2D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Savings</a:t>
            </a:r>
            <a:endParaRPr lang="en-US" sz="1050" dirty="0"/>
          </a:p>
        </p:txBody>
      </p:sp>
      <p:sp>
        <p:nvSpPr>
          <p:cNvPr id="36" name="Text 34"/>
          <p:cNvSpPr/>
          <p:nvPr/>
        </p:nvSpPr>
        <p:spPr>
          <a:xfrm>
            <a:off x="3813048" y="3236976"/>
            <a:ext cx="14630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6B7B6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10 kw  |  2 resp</a:t>
            </a:r>
            <a:endParaRPr lang="en-US" sz="850" dirty="0"/>
          </a:p>
        </p:txBody>
      </p:sp>
      <p:sp>
        <p:nvSpPr>
          <p:cNvPr id="37" name="Shape 35"/>
          <p:cNvSpPr/>
          <p:nvPr/>
        </p:nvSpPr>
        <p:spPr>
          <a:xfrm>
            <a:off x="5477256" y="2377440"/>
            <a:ext cx="1581912" cy="1225296"/>
          </a:xfrm>
          <a:prstGeom prst="rect">
            <a:avLst/>
          </a:prstGeom>
          <a:solidFill>
            <a:srgbClr val="F0EDE8"/>
          </a:solidFill>
          <a:ln w="12700">
            <a:solidFill>
              <a:srgbClr val="B87333">
                <a:alpha val="40000"/>
              </a:srgbClr>
            </a:solidFill>
            <a:prstDash val="solid"/>
          </a:ln>
          <a:effectLst>
            <a:outerShdw blurRad="101600" dist="38100" dir="8100000" algn="bl" rotWithShape="0">
              <a:srgbClr val="000000">
                <a:alpha val="25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38" name="Text 36"/>
          <p:cNvSpPr/>
          <p:nvPr/>
        </p:nvSpPr>
        <p:spPr>
          <a:xfrm>
            <a:off x="5477256" y="2487168"/>
            <a:ext cx="1581912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400" dirty="0">
                <a:solidFill>
                  <a:srgbClr val="000000"/>
                </a:solidFill>
              </a:rPr>
              <a:t>📉</a:t>
            </a:r>
            <a:endParaRPr lang="en-US" sz="2400" dirty="0"/>
          </a:p>
        </p:txBody>
      </p:sp>
      <p:sp>
        <p:nvSpPr>
          <p:cNvPr id="39" name="Text 37"/>
          <p:cNvSpPr/>
          <p:nvPr/>
        </p:nvSpPr>
        <p:spPr>
          <a:xfrm>
            <a:off x="5532120" y="2944368"/>
            <a:ext cx="1463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2D2D2D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Inflation</a:t>
            </a:r>
            <a:endParaRPr lang="en-US" sz="1050" dirty="0"/>
          </a:p>
        </p:txBody>
      </p:sp>
      <p:sp>
        <p:nvSpPr>
          <p:cNvPr id="40" name="Text 38"/>
          <p:cNvSpPr/>
          <p:nvPr/>
        </p:nvSpPr>
        <p:spPr>
          <a:xfrm>
            <a:off x="5532120" y="3236976"/>
            <a:ext cx="14630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6B7B6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9 kw  |  2 resp</a:t>
            </a:r>
            <a:endParaRPr lang="en-US" sz="850" dirty="0"/>
          </a:p>
        </p:txBody>
      </p:sp>
      <p:sp>
        <p:nvSpPr>
          <p:cNvPr id="41" name="Shape 39"/>
          <p:cNvSpPr/>
          <p:nvPr/>
        </p:nvSpPr>
        <p:spPr>
          <a:xfrm>
            <a:off x="7196328" y="2377440"/>
            <a:ext cx="1581912" cy="1225296"/>
          </a:xfrm>
          <a:prstGeom prst="rect">
            <a:avLst/>
          </a:prstGeom>
          <a:solidFill>
            <a:srgbClr val="F0EDE8"/>
          </a:solidFill>
          <a:ln w="12700">
            <a:solidFill>
              <a:srgbClr val="B87333">
                <a:alpha val="40000"/>
              </a:srgbClr>
            </a:solidFill>
            <a:prstDash val="solid"/>
          </a:ln>
          <a:effectLst>
            <a:outerShdw blurRad="101600" dist="38100" dir="8100000" algn="bl" rotWithShape="0">
              <a:srgbClr val="000000">
                <a:alpha val="25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42" name="Text 40"/>
          <p:cNvSpPr/>
          <p:nvPr/>
        </p:nvSpPr>
        <p:spPr>
          <a:xfrm>
            <a:off x="7196328" y="2487168"/>
            <a:ext cx="1581912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400" dirty="0">
                <a:solidFill>
                  <a:srgbClr val="000000"/>
                </a:solidFill>
              </a:rPr>
              <a:t>🔁</a:t>
            </a:r>
            <a:endParaRPr lang="en-US" sz="2400" dirty="0"/>
          </a:p>
        </p:txBody>
      </p:sp>
      <p:sp>
        <p:nvSpPr>
          <p:cNvPr id="43" name="Text 41"/>
          <p:cNvSpPr/>
          <p:nvPr/>
        </p:nvSpPr>
        <p:spPr>
          <a:xfrm>
            <a:off x="7251192" y="2944368"/>
            <a:ext cx="1463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2D2D2D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Compounding</a:t>
            </a:r>
            <a:endParaRPr lang="en-US" sz="1050" dirty="0"/>
          </a:p>
        </p:txBody>
      </p:sp>
      <p:sp>
        <p:nvSpPr>
          <p:cNvPr id="44" name="Text 42"/>
          <p:cNvSpPr/>
          <p:nvPr/>
        </p:nvSpPr>
        <p:spPr>
          <a:xfrm>
            <a:off x="7251192" y="3236976"/>
            <a:ext cx="14630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6B7B6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8 kw  |  2 resp</a:t>
            </a:r>
            <a:endParaRPr lang="en-US" sz="850" dirty="0"/>
          </a:p>
        </p:txBody>
      </p:sp>
      <p:sp>
        <p:nvSpPr>
          <p:cNvPr id="46" name="Text 44"/>
          <p:cNvSpPr/>
          <p:nvPr/>
        </p:nvSpPr>
        <p:spPr>
          <a:xfrm>
            <a:off x="320040" y="3840480"/>
            <a:ext cx="1581912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endParaRPr lang="en-US" sz="2400" dirty="0"/>
          </a:p>
        </p:txBody>
      </p:sp>
      <p:sp>
        <p:nvSpPr>
          <p:cNvPr id="50" name="Text 48"/>
          <p:cNvSpPr/>
          <p:nvPr/>
        </p:nvSpPr>
        <p:spPr>
          <a:xfrm>
            <a:off x="2039112" y="3840480"/>
            <a:ext cx="1581912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endParaRPr lang="en-US" sz="2400" dirty="0"/>
          </a:p>
        </p:txBody>
      </p:sp>
      <p:sp>
        <p:nvSpPr>
          <p:cNvPr id="51" name="Text 49"/>
          <p:cNvSpPr/>
          <p:nvPr/>
        </p:nvSpPr>
        <p:spPr>
          <a:xfrm>
            <a:off x="2093976" y="4297680"/>
            <a:ext cx="1463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endParaRPr lang="en-US" sz="1050" dirty="0"/>
          </a:p>
        </p:txBody>
      </p:sp>
      <p:sp>
        <p:nvSpPr>
          <p:cNvPr id="52" name="Text 50"/>
          <p:cNvSpPr/>
          <p:nvPr/>
        </p:nvSpPr>
        <p:spPr>
          <a:xfrm>
            <a:off x="2093976" y="4590288"/>
            <a:ext cx="14630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endParaRPr lang="en-US" sz="850" dirty="0"/>
          </a:p>
        </p:txBody>
      </p:sp>
      <p:sp>
        <p:nvSpPr>
          <p:cNvPr id="54" name="Text 52"/>
          <p:cNvSpPr/>
          <p:nvPr/>
        </p:nvSpPr>
        <p:spPr>
          <a:xfrm>
            <a:off x="3758184" y="3840480"/>
            <a:ext cx="1581912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endParaRPr lang="en-US" sz="2400" dirty="0"/>
          </a:p>
        </p:txBody>
      </p:sp>
      <p:sp>
        <p:nvSpPr>
          <p:cNvPr id="55" name="Text 53"/>
          <p:cNvSpPr/>
          <p:nvPr/>
        </p:nvSpPr>
        <p:spPr>
          <a:xfrm>
            <a:off x="3813048" y="4297680"/>
            <a:ext cx="1463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endParaRPr lang="en-US" sz="1050" dirty="0"/>
          </a:p>
        </p:txBody>
      </p:sp>
      <p:sp>
        <p:nvSpPr>
          <p:cNvPr id="56" name="Text 54"/>
          <p:cNvSpPr/>
          <p:nvPr/>
        </p:nvSpPr>
        <p:spPr>
          <a:xfrm>
            <a:off x="3813048" y="4590288"/>
            <a:ext cx="14630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endParaRPr lang="en-US" sz="850" dirty="0"/>
          </a:p>
        </p:txBody>
      </p:sp>
      <p:sp>
        <p:nvSpPr>
          <p:cNvPr id="58" name="Text 56"/>
          <p:cNvSpPr/>
          <p:nvPr/>
        </p:nvSpPr>
        <p:spPr>
          <a:xfrm>
            <a:off x="320040" y="4114800"/>
            <a:ext cx="2011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endParaRPr lang="en-US" sz="2400" dirty="0"/>
          </a:p>
        </p:txBody>
      </p:sp>
    </p:spTree>
    <p:extLst>
      <p:ext uri="{BB962C8B-B14F-4D97-AF65-F5344CB8AC3E}">
        <p14:creationId xmlns:p14="http://schemas.microsoft.com/office/powerpoint/2010/main" val="4016159196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AF8F5">
            <a:alpha val="100000"/>
          </a:srgb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73152" cy="5143500"/>
          </a:xfrm>
          <a:prstGeom prst="rect">
            <a:avLst/>
          </a:prstGeom>
          <a:solidFill>
            <a:srgbClr val="A855F7"/>
          </a:solidFill>
          <a:ln w="12700">
            <a:solidFill>
              <a:srgbClr val="A855F7"/>
            </a:solidFill>
            <a:prstDash val="solid"/>
          </a:ln>
        </p:spPr>
        <p:txBody>
          <a:bodyPr/>
          <a:lstStyle/>
          <a:p>
            <a:endParaRPr lang="en-IN">
              <a:solidFill>
                <a:srgbClr val="FFFFFF"/>
              </a:solidFill>
            </a:endParaRPr>
          </a:p>
        </p:txBody>
      </p:sp>
      <p:sp>
        <p:nvSpPr>
          <p:cNvPr id="3" name="Text 1"/>
          <p:cNvSpPr/>
          <p:nvPr/>
        </p:nvSpPr>
        <p:spPr>
          <a:xfrm>
            <a:off x="365760" y="201168"/>
            <a:ext cx="84124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2D2D2D"/>
                </a:solidFill>
                <a:latin typeface="Georgia" pitchFamily="34" charset="0"/>
                <a:ea typeface="Segoe UI" pitchFamily="34" charset="-122"/>
                <a:cs typeface="Segoe UI" pitchFamily="34" charset="-120"/>
              </a:rPr>
              <a:t>Application &amp; API Design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320040" y="822960"/>
            <a:ext cx="2788920" cy="347472"/>
          </a:xfrm>
          <a:prstGeom prst="rect">
            <a:avLst/>
          </a:prstGeom>
          <a:solidFill>
            <a:srgbClr val="B87333"/>
          </a:solidFill>
          <a:ln w="12700">
            <a:solidFill>
              <a:srgbClr val="B87333"/>
            </a:solidFill>
            <a:prstDash val="solid"/>
          </a:ln>
        </p:spPr>
        <p:txBody>
          <a:bodyPr/>
          <a:lstStyle/>
          <a:p>
            <a:endParaRPr lang="en-IN">
              <a:solidFill>
                <a:srgbClr val="FFFFFF"/>
              </a:solidFill>
            </a:endParaRPr>
          </a:p>
        </p:txBody>
      </p:sp>
      <p:sp>
        <p:nvSpPr>
          <p:cNvPr id="5" name="Text 3"/>
          <p:cNvSpPr/>
          <p:nvPr/>
        </p:nvSpPr>
        <p:spPr>
          <a:xfrm>
            <a:off x="320040" y="822960"/>
            <a:ext cx="27889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2D2D2D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CORE ENGINE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320040" y="1170432"/>
            <a:ext cx="2788920" cy="3200400"/>
          </a:xfrm>
          <a:prstGeom prst="rect">
            <a:avLst/>
          </a:prstGeom>
          <a:solidFill>
            <a:srgbClr val="F0EDE8"/>
          </a:solidFill>
          <a:ln w="12700">
            <a:solidFill>
              <a:srgbClr val="B87333">
                <a:alpha val="30000"/>
              </a:srgbClr>
            </a:solidFill>
            <a:prstDash val="solid"/>
          </a:ln>
          <a:effectLst>
            <a:outerShdw blurRad="101600" dist="38100" dir="8100000" algn="bl" rotWithShape="0">
              <a:srgbClr val="000000">
                <a:alpha val="25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7" name="Text 5"/>
          <p:cNvSpPr/>
          <p:nvPr/>
        </p:nvSpPr>
        <p:spPr>
          <a:xfrm>
            <a:off x="411480" y="1225296"/>
            <a:ext cx="26060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B8733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chatbot_engine.py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411480" y="1572768"/>
            <a:ext cx="26060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2D2D2D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▸  FINANCE_KB  — 13-topic knowledge dict</a:t>
            </a:r>
            <a:endParaRPr lang="en-US" sz="950" dirty="0"/>
          </a:p>
        </p:txBody>
      </p:sp>
      <p:sp>
        <p:nvSpPr>
          <p:cNvPr id="9" name="Text 7"/>
          <p:cNvSpPr/>
          <p:nvPr/>
        </p:nvSpPr>
        <p:spPr>
          <a:xfrm>
            <a:off x="411480" y="2048256"/>
            <a:ext cx="26060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2D2D2D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▸  preprocess()  — lowercase + tokenize</a:t>
            </a:r>
            <a:endParaRPr lang="en-US" sz="950" dirty="0"/>
          </a:p>
        </p:txBody>
      </p:sp>
      <p:sp>
        <p:nvSpPr>
          <p:cNvPr id="10" name="Text 8"/>
          <p:cNvSpPr/>
          <p:nvPr/>
        </p:nvSpPr>
        <p:spPr>
          <a:xfrm>
            <a:off x="411480" y="2523744"/>
            <a:ext cx="26060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2D2D2D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▸  score_category()  — 3/2/1 weighted scoring</a:t>
            </a:r>
            <a:endParaRPr lang="en-US" sz="950" dirty="0"/>
          </a:p>
        </p:txBody>
      </p:sp>
      <p:sp>
        <p:nvSpPr>
          <p:cNvPr id="11" name="Text 9"/>
          <p:cNvSpPr/>
          <p:nvPr/>
        </p:nvSpPr>
        <p:spPr>
          <a:xfrm>
            <a:off x="411480" y="2999232"/>
            <a:ext cx="26060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2D2D2D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▸  get_response()  — orchestrator function</a:t>
            </a:r>
            <a:endParaRPr lang="en-US" sz="950" dirty="0"/>
          </a:p>
        </p:txBody>
      </p:sp>
      <p:sp>
        <p:nvSpPr>
          <p:cNvPr id="12" name="Text 10"/>
          <p:cNvSpPr/>
          <p:nvPr/>
        </p:nvSpPr>
        <p:spPr>
          <a:xfrm>
            <a:off x="411480" y="3474720"/>
            <a:ext cx="26060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2D2D2D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▸  run_cli()  — terminal interface loop</a:t>
            </a:r>
            <a:endParaRPr lang="en-US" sz="950" dirty="0"/>
          </a:p>
        </p:txBody>
      </p:sp>
      <p:sp>
        <p:nvSpPr>
          <p:cNvPr id="13" name="Shape 11"/>
          <p:cNvSpPr/>
          <p:nvPr/>
        </p:nvSpPr>
        <p:spPr>
          <a:xfrm>
            <a:off x="3246120" y="822960"/>
            <a:ext cx="2788920" cy="347472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4" name="Text 12"/>
          <p:cNvSpPr/>
          <p:nvPr/>
        </p:nvSpPr>
        <p:spPr>
          <a:xfrm>
            <a:off x="3246120" y="822960"/>
            <a:ext cx="27889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2D2D2D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WEB SERVER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3246120" y="1170432"/>
            <a:ext cx="2788920" cy="3200400"/>
          </a:xfrm>
          <a:prstGeom prst="rect">
            <a:avLst/>
          </a:prstGeom>
          <a:solidFill>
            <a:srgbClr val="F0EDE8"/>
          </a:solidFill>
          <a:ln w="12700">
            <a:solidFill>
              <a:srgbClr val="F59E0B">
                <a:alpha val="30000"/>
              </a:srgbClr>
            </a:solidFill>
            <a:prstDash val="solid"/>
          </a:ln>
          <a:effectLst>
            <a:outerShdw blurRad="101600" dist="38100" dir="8100000" algn="bl" rotWithShape="0">
              <a:srgbClr val="000000">
                <a:alpha val="25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16" name="Text 14"/>
          <p:cNvSpPr/>
          <p:nvPr/>
        </p:nvSpPr>
        <p:spPr>
          <a:xfrm>
            <a:off x="3337560" y="1225296"/>
            <a:ext cx="26060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59E0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app.py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3337560" y="1572768"/>
            <a:ext cx="26060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2D2D2D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▸  Flask app object  — app = Flask(__name__)</a:t>
            </a:r>
            <a:endParaRPr lang="en-US" sz="950" dirty="0"/>
          </a:p>
        </p:txBody>
      </p:sp>
      <p:sp>
        <p:nvSpPr>
          <p:cNvPr id="18" name="Text 16"/>
          <p:cNvSpPr/>
          <p:nvPr/>
        </p:nvSpPr>
        <p:spPr>
          <a:xfrm>
            <a:off x="3337560" y="2048256"/>
            <a:ext cx="26060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2D2D2D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▸  GET /  →  index()  →  render HTML</a:t>
            </a:r>
            <a:endParaRPr lang="en-US" sz="950" dirty="0"/>
          </a:p>
        </p:txBody>
      </p:sp>
      <p:sp>
        <p:nvSpPr>
          <p:cNvPr id="19" name="Text 17"/>
          <p:cNvSpPr/>
          <p:nvPr/>
        </p:nvSpPr>
        <p:spPr>
          <a:xfrm>
            <a:off x="3337560" y="2523744"/>
            <a:ext cx="26060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2D2D2D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▸  POST /api/chat  →  chat()  →  get_response()</a:t>
            </a:r>
            <a:endParaRPr lang="en-US" sz="950" dirty="0"/>
          </a:p>
        </p:txBody>
      </p:sp>
      <p:sp>
        <p:nvSpPr>
          <p:cNvPr id="20" name="Text 18"/>
          <p:cNvSpPr/>
          <p:nvPr/>
        </p:nvSpPr>
        <p:spPr>
          <a:xfrm>
            <a:off x="3337560" y="2999232"/>
            <a:ext cx="26060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2D2D2D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▸  GET /api/health  →  health()  →  status ok</a:t>
            </a:r>
            <a:endParaRPr lang="en-US" sz="950" dirty="0"/>
          </a:p>
        </p:txBody>
      </p:sp>
      <p:sp>
        <p:nvSpPr>
          <p:cNvPr id="21" name="Text 19"/>
          <p:cNvSpPr/>
          <p:nvPr/>
        </p:nvSpPr>
        <p:spPr>
          <a:xfrm>
            <a:off x="3337560" y="3474720"/>
            <a:ext cx="26060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2D2D2D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▸  UTF-8 Windows stdout fix on startup</a:t>
            </a:r>
            <a:endParaRPr lang="en-US" sz="950" dirty="0"/>
          </a:p>
        </p:txBody>
      </p:sp>
      <p:sp>
        <p:nvSpPr>
          <p:cNvPr id="22" name="Shape 20"/>
          <p:cNvSpPr/>
          <p:nvPr/>
        </p:nvSpPr>
        <p:spPr>
          <a:xfrm>
            <a:off x="6172200" y="822960"/>
            <a:ext cx="2788920" cy="347472"/>
          </a:xfrm>
          <a:prstGeom prst="rect">
            <a:avLst/>
          </a:prstGeom>
          <a:solidFill>
            <a:srgbClr val="A855F7"/>
          </a:solidFill>
          <a:ln w="12700">
            <a:solidFill>
              <a:srgbClr val="A855F7"/>
            </a:solidFill>
            <a:prstDash val="solid"/>
          </a:ln>
        </p:spPr>
        <p:txBody>
          <a:bodyPr/>
          <a:lstStyle/>
          <a:p>
            <a:endParaRPr lang="en-IN">
              <a:solidFill>
                <a:srgbClr val="FFFFFF"/>
              </a:solidFill>
            </a:endParaRPr>
          </a:p>
        </p:txBody>
      </p:sp>
      <p:sp>
        <p:nvSpPr>
          <p:cNvPr id="23" name="Text 21"/>
          <p:cNvSpPr/>
          <p:nvPr/>
        </p:nvSpPr>
        <p:spPr>
          <a:xfrm>
            <a:off x="6172200" y="822960"/>
            <a:ext cx="27889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2D2D2D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FRONTEND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6172200" y="1170432"/>
            <a:ext cx="2788920" cy="3200400"/>
          </a:xfrm>
          <a:prstGeom prst="rect">
            <a:avLst/>
          </a:prstGeom>
          <a:solidFill>
            <a:srgbClr val="F0EDE8"/>
          </a:solidFill>
          <a:ln w="12700">
            <a:solidFill>
              <a:srgbClr val="A855F7">
                <a:alpha val="30000"/>
              </a:srgbClr>
            </a:solidFill>
            <a:prstDash val="solid"/>
          </a:ln>
          <a:effectLst>
            <a:outerShdw blurRad="101600" dist="38100" dir="8100000" algn="bl" rotWithShape="0">
              <a:srgbClr val="000000">
                <a:alpha val="25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25" name="Text 23"/>
          <p:cNvSpPr/>
          <p:nvPr/>
        </p:nvSpPr>
        <p:spPr>
          <a:xfrm>
            <a:off x="6263640" y="1225296"/>
            <a:ext cx="26060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A855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finbot_website.html</a:t>
            </a:r>
            <a:endParaRPr lang="en-US" sz="1100" dirty="0"/>
          </a:p>
        </p:txBody>
      </p:sp>
      <p:sp>
        <p:nvSpPr>
          <p:cNvPr id="26" name="Text 24"/>
          <p:cNvSpPr/>
          <p:nvPr/>
        </p:nvSpPr>
        <p:spPr>
          <a:xfrm>
            <a:off x="6263640" y="1572768"/>
            <a:ext cx="26060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2D2D2D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▸  Landing page  — 6 sections</a:t>
            </a:r>
            <a:endParaRPr lang="en-US" sz="950" dirty="0"/>
          </a:p>
        </p:txBody>
      </p:sp>
      <p:sp>
        <p:nvSpPr>
          <p:cNvPr id="27" name="Text 25"/>
          <p:cNvSpPr/>
          <p:nvPr/>
        </p:nvSpPr>
        <p:spPr>
          <a:xfrm>
            <a:off x="6263640" y="2048256"/>
            <a:ext cx="26060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2D2D2D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▸  Floating chat FAB + widget panel</a:t>
            </a:r>
            <a:endParaRPr lang="en-US" sz="950" dirty="0"/>
          </a:p>
        </p:txBody>
      </p:sp>
      <p:sp>
        <p:nvSpPr>
          <p:cNvPr id="28" name="Text 26"/>
          <p:cNvSpPr/>
          <p:nvPr/>
        </p:nvSpPr>
        <p:spPr>
          <a:xfrm>
            <a:off x="6263640" y="2523744"/>
            <a:ext cx="26060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2D2D2D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▸  JS KB object  — mirrors FINANCE_KB</a:t>
            </a:r>
            <a:endParaRPr lang="en-US" sz="950" dirty="0"/>
          </a:p>
        </p:txBody>
      </p:sp>
      <p:sp>
        <p:nvSpPr>
          <p:cNvPr id="29" name="Text 27"/>
          <p:cNvSpPr/>
          <p:nvPr/>
        </p:nvSpPr>
        <p:spPr>
          <a:xfrm>
            <a:off x="6263640" y="2999232"/>
            <a:ext cx="26060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2D2D2D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▸  preprocess() + scoreCategory() + getResponse()</a:t>
            </a:r>
            <a:endParaRPr lang="en-US" sz="950" dirty="0"/>
          </a:p>
        </p:txBody>
      </p:sp>
      <p:sp>
        <p:nvSpPr>
          <p:cNvPr id="30" name="Text 28"/>
          <p:cNvSpPr/>
          <p:nvPr/>
        </p:nvSpPr>
        <p:spPr>
          <a:xfrm>
            <a:off x="6263640" y="3474720"/>
            <a:ext cx="26060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2D2D2D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▸  parseMarkdown()  — bold, code, tables</a:t>
            </a:r>
            <a:endParaRPr lang="en-US" sz="950" dirty="0"/>
          </a:p>
        </p:txBody>
      </p:sp>
      <p:sp>
        <p:nvSpPr>
          <p:cNvPr id="31" name="Text 29"/>
          <p:cNvSpPr/>
          <p:nvPr/>
        </p:nvSpPr>
        <p:spPr>
          <a:xfrm>
            <a:off x="320040" y="4462272"/>
            <a:ext cx="29260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2D2D2D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REST API Endpoints</a:t>
            </a:r>
            <a:endParaRPr lang="en-US" sz="1100" dirty="0"/>
          </a:p>
        </p:txBody>
      </p:sp>
      <p:sp>
        <p:nvSpPr>
          <p:cNvPr id="32" name="Shape 30"/>
          <p:cNvSpPr/>
          <p:nvPr/>
        </p:nvSpPr>
        <p:spPr>
          <a:xfrm>
            <a:off x="320040" y="4736592"/>
            <a:ext cx="2788920" cy="256032"/>
          </a:xfrm>
          <a:prstGeom prst="rect">
            <a:avLst/>
          </a:prstGeom>
          <a:solidFill>
            <a:srgbClr val="0F1E4A"/>
          </a:solidFill>
          <a:ln w="12700">
            <a:solidFill>
              <a:srgbClr val="94A3B8">
                <a:alpha val="40000"/>
              </a:srgbClr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3" name="Text 31"/>
          <p:cNvSpPr/>
          <p:nvPr/>
        </p:nvSpPr>
        <p:spPr>
          <a:xfrm>
            <a:off x="393192" y="4736592"/>
            <a:ext cx="11887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B8733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GET  /</a:t>
            </a:r>
            <a:endParaRPr lang="en-US" sz="900" dirty="0"/>
          </a:p>
        </p:txBody>
      </p:sp>
      <p:sp>
        <p:nvSpPr>
          <p:cNvPr id="34" name="Text 32"/>
          <p:cNvSpPr/>
          <p:nvPr/>
        </p:nvSpPr>
        <p:spPr>
          <a:xfrm>
            <a:off x="1600200" y="4736592"/>
            <a:ext cx="142646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B7B6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Serves website HTML</a:t>
            </a:r>
            <a:endParaRPr lang="en-US" sz="900" dirty="0"/>
          </a:p>
        </p:txBody>
      </p:sp>
      <p:sp>
        <p:nvSpPr>
          <p:cNvPr id="35" name="Shape 33"/>
          <p:cNvSpPr/>
          <p:nvPr/>
        </p:nvSpPr>
        <p:spPr>
          <a:xfrm>
            <a:off x="3246120" y="4736592"/>
            <a:ext cx="2788920" cy="256032"/>
          </a:xfrm>
          <a:prstGeom prst="rect">
            <a:avLst/>
          </a:prstGeom>
          <a:solidFill>
            <a:srgbClr val="0F1E4A"/>
          </a:solidFill>
          <a:ln w="12700">
            <a:solidFill>
              <a:srgbClr val="94A3B8">
                <a:alpha val="40000"/>
              </a:srgbClr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6" name="Text 34"/>
          <p:cNvSpPr/>
          <p:nvPr/>
        </p:nvSpPr>
        <p:spPr>
          <a:xfrm>
            <a:off x="3319272" y="4736592"/>
            <a:ext cx="11887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B8733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POST  /api/chat</a:t>
            </a:r>
            <a:endParaRPr lang="en-US" sz="900" dirty="0"/>
          </a:p>
        </p:txBody>
      </p:sp>
      <p:sp>
        <p:nvSpPr>
          <p:cNvPr id="37" name="Text 35"/>
          <p:cNvSpPr/>
          <p:nvPr/>
        </p:nvSpPr>
        <p:spPr>
          <a:xfrm>
            <a:off x="4526280" y="4736592"/>
            <a:ext cx="142646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B7B6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User message → JSON response</a:t>
            </a:r>
            <a:endParaRPr lang="en-US" sz="900" dirty="0"/>
          </a:p>
        </p:txBody>
      </p:sp>
      <p:sp>
        <p:nvSpPr>
          <p:cNvPr id="38" name="Shape 36"/>
          <p:cNvSpPr/>
          <p:nvPr/>
        </p:nvSpPr>
        <p:spPr>
          <a:xfrm>
            <a:off x="6172200" y="4736592"/>
            <a:ext cx="2788920" cy="256032"/>
          </a:xfrm>
          <a:prstGeom prst="rect">
            <a:avLst/>
          </a:prstGeom>
          <a:solidFill>
            <a:srgbClr val="0F1E4A"/>
          </a:solidFill>
          <a:ln w="12700">
            <a:solidFill>
              <a:srgbClr val="94A3B8">
                <a:alpha val="40000"/>
              </a:srgbClr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9" name="Text 37"/>
          <p:cNvSpPr/>
          <p:nvPr/>
        </p:nvSpPr>
        <p:spPr>
          <a:xfrm>
            <a:off x="6245352" y="4736592"/>
            <a:ext cx="11887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B8733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GET  /api/health</a:t>
            </a:r>
            <a:endParaRPr lang="en-US" sz="900" dirty="0"/>
          </a:p>
        </p:txBody>
      </p:sp>
      <p:sp>
        <p:nvSpPr>
          <p:cNvPr id="40" name="Text 38"/>
          <p:cNvSpPr/>
          <p:nvPr/>
        </p:nvSpPr>
        <p:spPr>
          <a:xfrm>
            <a:off x="7452360" y="4736592"/>
            <a:ext cx="142646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B7B6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Server status check</a:t>
            </a:r>
            <a:endParaRPr lang="en-US" sz="900" dirty="0"/>
          </a:p>
        </p:txBody>
      </p:sp>
    </p:spTree>
    <p:extLst>
      <p:ext uri="{BB962C8B-B14F-4D97-AF65-F5344CB8AC3E}">
        <p14:creationId xmlns:p14="http://schemas.microsoft.com/office/powerpoint/2010/main" val="712207544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AF8F5">
            <a:alpha val="100000"/>
          </a:srgb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73152" cy="5143500"/>
          </a:xfrm>
          <a:prstGeom prst="rect">
            <a:avLst/>
          </a:prstGeom>
          <a:solidFill>
            <a:srgbClr val="B87333"/>
          </a:solidFill>
          <a:ln w="12700">
            <a:solidFill>
              <a:srgbClr val="B87333"/>
            </a:solidFill>
            <a:prstDash val="solid"/>
          </a:ln>
        </p:spPr>
        <p:txBody>
          <a:bodyPr/>
          <a:lstStyle/>
          <a:p>
            <a:endParaRPr lang="en-IN">
              <a:solidFill>
                <a:srgbClr val="FFFFFF"/>
              </a:solidFill>
            </a:endParaRPr>
          </a:p>
        </p:txBody>
      </p:sp>
      <p:sp>
        <p:nvSpPr>
          <p:cNvPr id="3" name="Text 1"/>
          <p:cNvSpPr/>
          <p:nvPr/>
        </p:nvSpPr>
        <p:spPr>
          <a:xfrm>
            <a:off x="365760" y="201168"/>
            <a:ext cx="84124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2D2D2D"/>
                </a:solidFill>
                <a:latin typeface="Georgia" pitchFamily="34" charset="0"/>
                <a:ea typeface="Segoe UI" pitchFamily="34" charset="-122"/>
                <a:cs typeface="Segoe UI" pitchFamily="34" charset="-120"/>
              </a:rPr>
              <a:t>GUI Layout &amp; Features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320040" y="804672"/>
            <a:ext cx="3886200" cy="4023360"/>
          </a:xfrm>
          <a:prstGeom prst="rect">
            <a:avLst/>
          </a:prstGeom>
          <a:solidFill>
            <a:srgbClr val="F0EDE8"/>
          </a:solidFill>
          <a:ln w="12700">
            <a:solidFill>
              <a:srgbClr val="B87333">
                <a:alpha val="50000"/>
              </a:srgbClr>
            </a:solidFill>
            <a:prstDash val="solid"/>
          </a:ln>
          <a:effectLst>
            <a:outerShdw blurRad="101600" dist="38100" dir="8100000" algn="bl" rotWithShape="0">
              <a:srgbClr val="000000">
                <a:alpha val="25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320040" y="804672"/>
            <a:ext cx="3886200" cy="347472"/>
          </a:xfrm>
          <a:prstGeom prst="rect">
            <a:avLst/>
          </a:prstGeom>
          <a:solidFill>
            <a:srgbClr val="B87333"/>
          </a:solidFill>
          <a:ln w="12700">
            <a:solidFill>
              <a:srgbClr val="B87333"/>
            </a:solidFill>
            <a:prstDash val="solid"/>
          </a:ln>
        </p:spPr>
        <p:txBody>
          <a:bodyPr/>
          <a:lstStyle/>
          <a:p>
            <a:endParaRPr lang="en-IN">
              <a:solidFill>
                <a:srgbClr val="FFFFFF"/>
              </a:solidFill>
            </a:endParaRPr>
          </a:p>
        </p:txBody>
      </p:sp>
      <p:sp>
        <p:nvSpPr>
          <p:cNvPr id="6" name="Text 4"/>
          <p:cNvSpPr/>
          <p:nvPr/>
        </p:nvSpPr>
        <p:spPr>
          <a:xfrm>
            <a:off x="384048" y="804672"/>
            <a:ext cx="37490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2D2D2D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🌐  Website Landing Page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384048" y="1298448"/>
            <a:ext cx="347472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dirty="0">
                <a:solidFill>
                  <a:srgbClr val="000000"/>
                </a:solidFill>
              </a:rPr>
              <a:t>📌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768096" y="1298448"/>
            <a:ext cx="12801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2D2D2D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Navbar</a:t>
            </a:r>
            <a:endParaRPr lang="en-US" sz="1050" dirty="0"/>
          </a:p>
        </p:txBody>
      </p:sp>
      <p:sp>
        <p:nvSpPr>
          <p:cNvPr id="9" name="Text 7"/>
          <p:cNvSpPr/>
          <p:nvPr/>
        </p:nvSpPr>
        <p:spPr>
          <a:xfrm>
            <a:off x="768096" y="1554480"/>
            <a:ext cx="331012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B7B6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Logo + links + Try FinBot CTA button</a:t>
            </a:r>
            <a:endParaRPr lang="en-US" sz="900" dirty="0"/>
          </a:p>
        </p:txBody>
      </p:sp>
      <p:sp>
        <p:nvSpPr>
          <p:cNvPr id="10" name="Text 8"/>
          <p:cNvSpPr/>
          <p:nvPr/>
        </p:nvSpPr>
        <p:spPr>
          <a:xfrm>
            <a:off x="384048" y="1975104"/>
            <a:ext cx="347472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dirty="0">
                <a:solidFill>
                  <a:srgbClr val="000000"/>
                </a:solidFill>
              </a:rPr>
              <a:t>🦸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768096" y="1975104"/>
            <a:ext cx="12801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2D2D2D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Hero</a:t>
            </a:r>
            <a:endParaRPr lang="en-US" sz="1050" dirty="0"/>
          </a:p>
        </p:txBody>
      </p:sp>
      <p:sp>
        <p:nvSpPr>
          <p:cNvPr id="12" name="Text 10"/>
          <p:cNvSpPr/>
          <p:nvPr/>
        </p:nvSpPr>
        <p:spPr>
          <a:xfrm>
            <a:off x="768096" y="2231136"/>
            <a:ext cx="331012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B7B6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Headline + stats + action buttons + glow</a:t>
            </a:r>
            <a:endParaRPr lang="en-US" sz="900" dirty="0"/>
          </a:p>
        </p:txBody>
      </p:sp>
      <p:sp>
        <p:nvSpPr>
          <p:cNvPr id="13" name="Text 11"/>
          <p:cNvSpPr/>
          <p:nvPr/>
        </p:nvSpPr>
        <p:spPr>
          <a:xfrm>
            <a:off x="384048" y="2651760"/>
            <a:ext cx="347472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dirty="0">
                <a:solidFill>
                  <a:srgbClr val="000000"/>
                </a:solidFill>
              </a:rPr>
              <a:t>✨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768096" y="2651760"/>
            <a:ext cx="12801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2D2D2D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Features</a:t>
            </a:r>
            <a:endParaRPr lang="en-US" sz="1050" dirty="0"/>
          </a:p>
        </p:txBody>
      </p:sp>
      <p:sp>
        <p:nvSpPr>
          <p:cNvPr id="15" name="Text 13"/>
          <p:cNvSpPr/>
          <p:nvPr/>
        </p:nvSpPr>
        <p:spPr>
          <a:xfrm>
            <a:off x="768096" y="2907792"/>
            <a:ext cx="331012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B7B6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6 cards: NLP, data, privacy, speed, structure, mobile</a:t>
            </a:r>
            <a:endParaRPr lang="en-US" sz="900" dirty="0"/>
          </a:p>
        </p:txBody>
      </p:sp>
      <p:sp>
        <p:nvSpPr>
          <p:cNvPr id="16" name="Text 14"/>
          <p:cNvSpPr/>
          <p:nvPr/>
        </p:nvSpPr>
        <p:spPr>
          <a:xfrm>
            <a:off x="384048" y="3328416"/>
            <a:ext cx="347472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dirty="0">
                <a:solidFill>
                  <a:srgbClr val="000000"/>
                </a:solidFill>
              </a:rPr>
              <a:t>🗂️</a:t>
            </a:r>
            <a:endParaRPr lang="en-US" sz="1600" dirty="0"/>
          </a:p>
        </p:txBody>
      </p:sp>
      <p:sp>
        <p:nvSpPr>
          <p:cNvPr id="17" name="Text 15"/>
          <p:cNvSpPr/>
          <p:nvPr/>
        </p:nvSpPr>
        <p:spPr>
          <a:xfrm>
            <a:off x="768096" y="3328416"/>
            <a:ext cx="12801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2D2D2D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Topics Grid</a:t>
            </a:r>
            <a:endParaRPr lang="en-US" sz="1050" dirty="0"/>
          </a:p>
        </p:txBody>
      </p:sp>
      <p:sp>
        <p:nvSpPr>
          <p:cNvPr id="18" name="Text 16"/>
          <p:cNvSpPr/>
          <p:nvPr/>
        </p:nvSpPr>
        <p:spPr>
          <a:xfrm>
            <a:off x="768096" y="3584448"/>
            <a:ext cx="331012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B7B6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10 clickable cards → auto-opens chat with query</a:t>
            </a:r>
            <a:endParaRPr lang="en-US" sz="900" dirty="0"/>
          </a:p>
        </p:txBody>
      </p:sp>
      <p:sp>
        <p:nvSpPr>
          <p:cNvPr id="19" name="Text 17"/>
          <p:cNvSpPr/>
          <p:nvPr/>
        </p:nvSpPr>
        <p:spPr>
          <a:xfrm>
            <a:off x="384048" y="4005072"/>
            <a:ext cx="347472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dirty="0">
                <a:solidFill>
                  <a:srgbClr val="000000"/>
                </a:solidFill>
              </a:rPr>
              <a:t>⚙️</a:t>
            </a:r>
            <a:endParaRPr lang="en-US" sz="1600" dirty="0"/>
          </a:p>
        </p:txBody>
      </p:sp>
      <p:sp>
        <p:nvSpPr>
          <p:cNvPr id="20" name="Text 18"/>
          <p:cNvSpPr/>
          <p:nvPr/>
        </p:nvSpPr>
        <p:spPr>
          <a:xfrm>
            <a:off x="768096" y="4005072"/>
            <a:ext cx="12801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2D2D2D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How It Works</a:t>
            </a:r>
            <a:endParaRPr lang="en-US" sz="1050" dirty="0"/>
          </a:p>
        </p:txBody>
      </p:sp>
      <p:sp>
        <p:nvSpPr>
          <p:cNvPr id="21" name="Text 19"/>
          <p:cNvSpPr/>
          <p:nvPr/>
        </p:nvSpPr>
        <p:spPr>
          <a:xfrm>
            <a:off x="768096" y="4261104"/>
            <a:ext cx="331012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B7B6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4 numbered steps: Type → Tokenize → Score → Reply</a:t>
            </a:r>
            <a:endParaRPr lang="en-US" sz="900" dirty="0"/>
          </a:p>
        </p:txBody>
      </p:sp>
      <p:sp>
        <p:nvSpPr>
          <p:cNvPr id="22" name="Shape 20"/>
          <p:cNvSpPr/>
          <p:nvPr/>
        </p:nvSpPr>
        <p:spPr>
          <a:xfrm>
            <a:off x="4407408" y="804672"/>
            <a:ext cx="4370832" cy="4023360"/>
          </a:xfrm>
          <a:prstGeom prst="rect">
            <a:avLst/>
          </a:prstGeom>
          <a:solidFill>
            <a:srgbClr val="F0EDE8"/>
          </a:solidFill>
          <a:ln w="12700">
            <a:solidFill>
              <a:srgbClr val="F59E0B">
                <a:alpha val="50000"/>
              </a:srgbClr>
            </a:solidFill>
            <a:prstDash val="solid"/>
          </a:ln>
          <a:effectLst>
            <a:outerShdw blurRad="101600" dist="38100" dir="8100000" algn="bl" rotWithShape="0">
              <a:srgbClr val="000000">
                <a:alpha val="25000"/>
              </a:srgbClr>
            </a:outerShdw>
          </a:effectLst>
        </p:spPr>
      </p:sp>
      <p:sp>
        <p:nvSpPr>
          <p:cNvPr id="23" name="Shape 21"/>
          <p:cNvSpPr/>
          <p:nvPr/>
        </p:nvSpPr>
        <p:spPr>
          <a:xfrm>
            <a:off x="4407408" y="804672"/>
            <a:ext cx="4370832" cy="347472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4480560" y="804672"/>
            <a:ext cx="42062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2D2D2D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💬  Floating Chat Widget</a:t>
            </a:r>
            <a:endParaRPr lang="en-US" sz="1100" dirty="0"/>
          </a:p>
        </p:txBody>
      </p:sp>
      <p:sp>
        <p:nvSpPr>
          <p:cNvPr id="25" name="Text 23"/>
          <p:cNvSpPr/>
          <p:nvPr/>
        </p:nvSpPr>
        <p:spPr>
          <a:xfrm>
            <a:off x="4480560" y="1298448"/>
            <a:ext cx="347472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500" dirty="0">
                <a:solidFill>
                  <a:srgbClr val="000000"/>
                </a:solidFill>
              </a:rPr>
              <a:t>🟢</a:t>
            </a:r>
            <a:endParaRPr lang="en-US" sz="1500" dirty="0"/>
          </a:p>
        </p:txBody>
      </p:sp>
      <p:sp>
        <p:nvSpPr>
          <p:cNvPr id="26" name="Text 24"/>
          <p:cNvSpPr/>
          <p:nvPr/>
        </p:nvSpPr>
        <p:spPr>
          <a:xfrm>
            <a:off x="4846320" y="1298448"/>
            <a:ext cx="18288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2D2D2D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Floating FAB Button</a:t>
            </a:r>
            <a:endParaRPr lang="en-US" sz="1000" dirty="0"/>
          </a:p>
        </p:txBody>
      </p:sp>
      <p:sp>
        <p:nvSpPr>
          <p:cNvPr id="27" name="Text 25"/>
          <p:cNvSpPr/>
          <p:nvPr/>
        </p:nvSpPr>
        <p:spPr>
          <a:xfrm>
            <a:off x="4846320" y="1517904"/>
            <a:ext cx="38404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B7B6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Pulsing green circle at bottom-right corner of page</a:t>
            </a:r>
            <a:endParaRPr lang="en-US" sz="900" dirty="0"/>
          </a:p>
        </p:txBody>
      </p:sp>
      <p:sp>
        <p:nvSpPr>
          <p:cNvPr id="28" name="Text 26"/>
          <p:cNvSpPr/>
          <p:nvPr/>
        </p:nvSpPr>
        <p:spPr>
          <a:xfrm>
            <a:off x="4480560" y="1865376"/>
            <a:ext cx="347472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500" dirty="0">
                <a:solidFill>
                  <a:srgbClr val="000000"/>
                </a:solidFill>
              </a:rPr>
              <a:t>📋</a:t>
            </a:r>
            <a:endParaRPr lang="en-US" sz="1500" dirty="0"/>
          </a:p>
        </p:txBody>
      </p:sp>
      <p:sp>
        <p:nvSpPr>
          <p:cNvPr id="29" name="Text 27"/>
          <p:cNvSpPr/>
          <p:nvPr/>
        </p:nvSpPr>
        <p:spPr>
          <a:xfrm>
            <a:off x="4846320" y="1865376"/>
            <a:ext cx="18288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2D2D2D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Chat Header</a:t>
            </a:r>
            <a:endParaRPr lang="en-US" sz="1000" dirty="0"/>
          </a:p>
        </p:txBody>
      </p:sp>
      <p:sp>
        <p:nvSpPr>
          <p:cNvPr id="30" name="Text 28"/>
          <p:cNvSpPr/>
          <p:nvPr/>
        </p:nvSpPr>
        <p:spPr>
          <a:xfrm>
            <a:off x="4846320" y="2084832"/>
            <a:ext cx="38404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B7B6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Bot avatar · FinBot name · green online status dot</a:t>
            </a:r>
            <a:endParaRPr lang="en-US" sz="900" dirty="0"/>
          </a:p>
        </p:txBody>
      </p:sp>
      <p:sp>
        <p:nvSpPr>
          <p:cNvPr id="31" name="Text 29"/>
          <p:cNvSpPr/>
          <p:nvPr/>
        </p:nvSpPr>
        <p:spPr>
          <a:xfrm>
            <a:off x="4480560" y="2432304"/>
            <a:ext cx="347472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500" dirty="0">
                <a:solidFill>
                  <a:srgbClr val="000000"/>
                </a:solidFill>
              </a:rPr>
              <a:t>💬</a:t>
            </a:r>
            <a:endParaRPr lang="en-US" sz="1500" dirty="0"/>
          </a:p>
        </p:txBody>
      </p:sp>
      <p:sp>
        <p:nvSpPr>
          <p:cNvPr id="32" name="Text 30"/>
          <p:cNvSpPr/>
          <p:nvPr/>
        </p:nvSpPr>
        <p:spPr>
          <a:xfrm>
            <a:off x="4846320" y="2432304"/>
            <a:ext cx="18288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2D2D2D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Message Bubbles</a:t>
            </a:r>
            <a:endParaRPr lang="en-US" sz="1000" dirty="0"/>
          </a:p>
        </p:txBody>
      </p:sp>
      <p:sp>
        <p:nvSpPr>
          <p:cNvPr id="33" name="Text 31"/>
          <p:cNvSpPr/>
          <p:nvPr/>
        </p:nvSpPr>
        <p:spPr>
          <a:xfrm>
            <a:off x="4846320" y="2651760"/>
            <a:ext cx="38404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B7B6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Left=bot (dark blue) · Right=user (dark green tint)</a:t>
            </a:r>
            <a:endParaRPr lang="en-US" sz="900" dirty="0"/>
          </a:p>
        </p:txBody>
      </p:sp>
      <p:sp>
        <p:nvSpPr>
          <p:cNvPr id="34" name="Text 32"/>
          <p:cNvSpPr/>
          <p:nvPr/>
        </p:nvSpPr>
        <p:spPr>
          <a:xfrm>
            <a:off x="4480560" y="2999232"/>
            <a:ext cx="347472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500" dirty="0">
                <a:solidFill>
                  <a:srgbClr val="000000"/>
                </a:solidFill>
              </a:rPr>
              <a:t>📊</a:t>
            </a:r>
            <a:endParaRPr lang="en-US" sz="1500" dirty="0"/>
          </a:p>
        </p:txBody>
      </p:sp>
      <p:sp>
        <p:nvSpPr>
          <p:cNvPr id="35" name="Text 33"/>
          <p:cNvSpPr/>
          <p:nvPr/>
        </p:nvSpPr>
        <p:spPr>
          <a:xfrm>
            <a:off x="4846320" y="2999232"/>
            <a:ext cx="18288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2D2D2D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Confidence Bar</a:t>
            </a:r>
            <a:endParaRPr lang="en-US" sz="1000" dirty="0"/>
          </a:p>
        </p:txBody>
      </p:sp>
      <p:sp>
        <p:nvSpPr>
          <p:cNvPr id="36" name="Text 34"/>
          <p:cNvSpPr/>
          <p:nvPr/>
        </p:nvSpPr>
        <p:spPr>
          <a:xfrm>
            <a:off x="4846320" y="3218688"/>
            <a:ext cx="38404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B7B6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Animated fill showing topic match strength 0-100%</a:t>
            </a:r>
            <a:endParaRPr lang="en-US" sz="900" dirty="0"/>
          </a:p>
        </p:txBody>
      </p:sp>
      <p:sp>
        <p:nvSpPr>
          <p:cNvPr id="37" name="Text 35"/>
          <p:cNvSpPr/>
          <p:nvPr/>
        </p:nvSpPr>
        <p:spPr>
          <a:xfrm>
            <a:off x="4480560" y="3566160"/>
            <a:ext cx="347472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500" dirty="0">
                <a:solidFill>
                  <a:srgbClr val="000000"/>
                </a:solidFill>
              </a:rPr>
              <a:t>🏷️</a:t>
            </a:r>
            <a:endParaRPr lang="en-US" sz="1500" dirty="0"/>
          </a:p>
        </p:txBody>
      </p:sp>
      <p:sp>
        <p:nvSpPr>
          <p:cNvPr id="38" name="Text 36"/>
          <p:cNvSpPr/>
          <p:nvPr/>
        </p:nvSpPr>
        <p:spPr>
          <a:xfrm>
            <a:off x="4846320" y="3566160"/>
            <a:ext cx="18288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2D2D2D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Follow-up Chips</a:t>
            </a:r>
            <a:endParaRPr lang="en-US" sz="1000" dirty="0"/>
          </a:p>
        </p:txBody>
      </p:sp>
      <p:sp>
        <p:nvSpPr>
          <p:cNvPr id="39" name="Text 37"/>
          <p:cNvSpPr/>
          <p:nvPr/>
        </p:nvSpPr>
        <p:spPr>
          <a:xfrm>
            <a:off x="4846320" y="3785616"/>
            <a:ext cx="38404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B7B6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Clickable suggestion cards below each bot response</a:t>
            </a:r>
            <a:endParaRPr lang="en-US" sz="900" dirty="0"/>
          </a:p>
        </p:txBody>
      </p:sp>
      <p:sp>
        <p:nvSpPr>
          <p:cNvPr id="40" name="Text 38"/>
          <p:cNvSpPr/>
          <p:nvPr/>
        </p:nvSpPr>
        <p:spPr>
          <a:xfrm>
            <a:off x="4480560" y="4133088"/>
            <a:ext cx="347472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500" dirty="0">
                <a:solidFill>
                  <a:srgbClr val="000000"/>
                </a:solidFill>
              </a:rPr>
              <a:t>⌨️</a:t>
            </a:r>
            <a:endParaRPr lang="en-US" sz="1500" dirty="0"/>
          </a:p>
        </p:txBody>
      </p:sp>
      <p:sp>
        <p:nvSpPr>
          <p:cNvPr id="41" name="Text 39"/>
          <p:cNvSpPr/>
          <p:nvPr/>
        </p:nvSpPr>
        <p:spPr>
          <a:xfrm>
            <a:off x="4846320" y="4133088"/>
            <a:ext cx="18288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2D2D2D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Input Area</a:t>
            </a:r>
            <a:endParaRPr lang="en-US" sz="1000" dirty="0"/>
          </a:p>
        </p:txBody>
      </p:sp>
      <p:sp>
        <p:nvSpPr>
          <p:cNvPr id="42" name="Text 40"/>
          <p:cNvSpPr/>
          <p:nvPr/>
        </p:nvSpPr>
        <p:spPr>
          <a:xfrm>
            <a:off x="4846320" y="4352544"/>
            <a:ext cx="38404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B7B6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Textarea + send button · Enter to send · Shift+Enter newline</a:t>
            </a:r>
            <a:endParaRPr lang="en-US" sz="900" dirty="0"/>
          </a:p>
        </p:txBody>
      </p:sp>
    </p:spTree>
    <p:extLst>
      <p:ext uri="{BB962C8B-B14F-4D97-AF65-F5344CB8AC3E}">
        <p14:creationId xmlns:p14="http://schemas.microsoft.com/office/powerpoint/2010/main" val="1941127137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AF8F5">
            <a:alpha val="100000"/>
          </a:srgb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73152" cy="5143500"/>
          </a:xfrm>
          <a:prstGeom prst="rect">
            <a:avLst/>
          </a:prstGeom>
          <a:solidFill>
            <a:srgbClr val="22C55E"/>
          </a:solidFill>
          <a:ln w="12700">
            <a:solidFill>
              <a:srgbClr val="22C55E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201168"/>
            <a:ext cx="84124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2D2D2D"/>
                </a:solidFill>
                <a:latin typeface="Georgia" pitchFamily="34" charset="0"/>
                <a:ea typeface="Segoe UI" pitchFamily="34" charset="-122"/>
                <a:cs typeface="Segoe UI" pitchFamily="34" charset="-120"/>
              </a:rPr>
              <a:t>Testing Results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365760" y="676656"/>
            <a:ext cx="8412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B8733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78 total test cases  ·  All passed  ·  4 bugs found and fixed  ·  Week 6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320040" y="1024128"/>
            <a:ext cx="2011680" cy="1005840"/>
          </a:xfrm>
          <a:prstGeom prst="rect">
            <a:avLst/>
          </a:prstGeom>
          <a:solidFill>
            <a:srgbClr val="F0EDE8"/>
          </a:solidFill>
          <a:ln w="12700">
            <a:solidFill>
              <a:srgbClr val="B87333">
                <a:alpha val="50000"/>
              </a:srgbClr>
            </a:solidFill>
            <a:prstDash val="solid"/>
          </a:ln>
          <a:effectLst>
            <a:outerShdw blurRad="101600" dist="38100" dir="8100000" algn="bl" rotWithShape="0">
              <a:srgbClr val="000000">
                <a:alpha val="25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320040" y="1024128"/>
            <a:ext cx="2011680" cy="201168"/>
          </a:xfrm>
          <a:prstGeom prst="rect">
            <a:avLst/>
          </a:prstGeom>
          <a:solidFill>
            <a:srgbClr val="B87333"/>
          </a:solidFill>
          <a:ln w="12700">
            <a:solidFill>
              <a:srgbClr val="B87333"/>
            </a:solidFill>
            <a:prstDash val="solid"/>
          </a:ln>
        </p:spPr>
        <p:txBody>
          <a:bodyPr/>
          <a:lstStyle/>
          <a:p>
            <a:endParaRPr lang="en-IN">
              <a:solidFill>
                <a:srgbClr val="FFFFFF"/>
              </a:solidFill>
            </a:endParaRPr>
          </a:p>
        </p:txBody>
      </p:sp>
      <p:sp>
        <p:nvSpPr>
          <p:cNvPr id="7" name="Text 5"/>
          <p:cNvSpPr/>
          <p:nvPr/>
        </p:nvSpPr>
        <p:spPr>
          <a:xfrm>
            <a:off x="320040" y="1207008"/>
            <a:ext cx="2011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200" b="1" dirty="0">
                <a:solidFill>
                  <a:srgbClr val="B87333"/>
                </a:solidFill>
                <a:latin typeface="Georgia" pitchFamily="34" charset="0"/>
                <a:ea typeface="Segoe UI" pitchFamily="34" charset="-122"/>
                <a:cs typeface="Segoe UI" pitchFamily="34" charset="-120"/>
              </a:rPr>
              <a:t>39</a:t>
            </a:r>
            <a:endParaRPr lang="en-US" sz="3200" dirty="0"/>
          </a:p>
        </p:txBody>
      </p:sp>
      <p:sp>
        <p:nvSpPr>
          <p:cNvPr id="8" name="Text 6"/>
          <p:cNvSpPr/>
          <p:nvPr/>
        </p:nvSpPr>
        <p:spPr>
          <a:xfrm>
            <a:off x="320040" y="1682496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6B7B6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Unit Tests</a:t>
            </a:r>
            <a:endParaRPr lang="en-US" sz="900" dirty="0"/>
          </a:p>
        </p:txBody>
      </p:sp>
      <p:sp>
        <p:nvSpPr>
          <p:cNvPr id="9" name="Shape 7"/>
          <p:cNvSpPr/>
          <p:nvPr/>
        </p:nvSpPr>
        <p:spPr>
          <a:xfrm>
            <a:off x="2468880" y="1024128"/>
            <a:ext cx="2011680" cy="1005840"/>
          </a:xfrm>
          <a:prstGeom prst="rect">
            <a:avLst/>
          </a:prstGeom>
          <a:solidFill>
            <a:srgbClr val="F0EDE8"/>
          </a:solidFill>
          <a:ln w="12700">
            <a:solidFill>
              <a:srgbClr val="F59E0B">
                <a:alpha val="50000"/>
              </a:srgbClr>
            </a:solidFill>
            <a:prstDash val="solid"/>
          </a:ln>
          <a:effectLst>
            <a:outerShdw blurRad="101600" dist="38100" dir="8100000" algn="bl" rotWithShape="0">
              <a:srgbClr val="000000">
                <a:alpha val="25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2468880" y="1024128"/>
            <a:ext cx="2011680" cy="201168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2468880" y="1207008"/>
            <a:ext cx="2011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200" b="1" dirty="0">
                <a:solidFill>
                  <a:srgbClr val="F59E0B"/>
                </a:solidFill>
                <a:latin typeface="Georgia" pitchFamily="34" charset="0"/>
                <a:ea typeface="Segoe UI" pitchFamily="34" charset="-122"/>
                <a:cs typeface="Segoe UI" pitchFamily="34" charset="-120"/>
              </a:rPr>
              <a:t>6</a:t>
            </a:r>
            <a:endParaRPr lang="en-US" sz="3200" dirty="0"/>
          </a:p>
        </p:txBody>
      </p:sp>
      <p:sp>
        <p:nvSpPr>
          <p:cNvPr id="12" name="Text 10"/>
          <p:cNvSpPr/>
          <p:nvPr/>
        </p:nvSpPr>
        <p:spPr>
          <a:xfrm>
            <a:off x="2468880" y="1682496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6B7B6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Edge Cases</a:t>
            </a:r>
            <a:endParaRPr lang="en-US" sz="900" dirty="0"/>
          </a:p>
        </p:txBody>
      </p:sp>
      <p:sp>
        <p:nvSpPr>
          <p:cNvPr id="13" name="Shape 11"/>
          <p:cNvSpPr/>
          <p:nvPr/>
        </p:nvSpPr>
        <p:spPr>
          <a:xfrm>
            <a:off x="4617720" y="1024128"/>
            <a:ext cx="2011680" cy="1005840"/>
          </a:xfrm>
          <a:prstGeom prst="rect">
            <a:avLst/>
          </a:prstGeom>
          <a:solidFill>
            <a:srgbClr val="F0EDE8"/>
          </a:solidFill>
          <a:ln w="12700">
            <a:solidFill>
              <a:srgbClr val="A855F7">
                <a:alpha val="50000"/>
              </a:srgbClr>
            </a:solidFill>
            <a:prstDash val="solid"/>
          </a:ln>
          <a:effectLst>
            <a:outerShdw blurRad="101600" dist="38100" dir="8100000" algn="bl" rotWithShape="0">
              <a:srgbClr val="000000">
                <a:alpha val="25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4617720" y="1024128"/>
            <a:ext cx="2011680" cy="201168"/>
          </a:xfrm>
          <a:prstGeom prst="rect">
            <a:avLst/>
          </a:prstGeom>
          <a:solidFill>
            <a:srgbClr val="A855F7"/>
          </a:solidFill>
          <a:ln w="12700">
            <a:solidFill>
              <a:srgbClr val="A855F7"/>
            </a:solidFill>
            <a:prstDash val="solid"/>
          </a:ln>
        </p:spPr>
        <p:txBody>
          <a:bodyPr/>
          <a:lstStyle/>
          <a:p>
            <a:endParaRPr lang="en-IN">
              <a:solidFill>
                <a:srgbClr val="FFFFFF"/>
              </a:solidFill>
            </a:endParaRPr>
          </a:p>
        </p:txBody>
      </p:sp>
      <p:sp>
        <p:nvSpPr>
          <p:cNvPr id="15" name="Text 13"/>
          <p:cNvSpPr/>
          <p:nvPr/>
        </p:nvSpPr>
        <p:spPr>
          <a:xfrm>
            <a:off x="4617720" y="1207008"/>
            <a:ext cx="2011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200" b="1" dirty="0">
                <a:solidFill>
                  <a:srgbClr val="A855F7"/>
                </a:solidFill>
                <a:latin typeface="Georgia" pitchFamily="34" charset="0"/>
                <a:ea typeface="Segoe UI" pitchFamily="34" charset="-122"/>
                <a:cs typeface="Segoe UI" pitchFamily="34" charset="-120"/>
              </a:rPr>
              <a:t>5</a:t>
            </a:r>
            <a:endParaRPr lang="en-US" sz="3200" dirty="0"/>
          </a:p>
        </p:txBody>
      </p:sp>
      <p:sp>
        <p:nvSpPr>
          <p:cNvPr id="16" name="Text 14"/>
          <p:cNvSpPr/>
          <p:nvPr/>
        </p:nvSpPr>
        <p:spPr>
          <a:xfrm>
            <a:off x="4617720" y="1682496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6B7B6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Integration</a:t>
            </a:r>
            <a:endParaRPr lang="en-US" sz="900" dirty="0"/>
          </a:p>
        </p:txBody>
      </p:sp>
      <p:sp>
        <p:nvSpPr>
          <p:cNvPr id="17" name="Shape 15"/>
          <p:cNvSpPr/>
          <p:nvPr/>
        </p:nvSpPr>
        <p:spPr>
          <a:xfrm>
            <a:off x="6766560" y="1024128"/>
            <a:ext cx="2011680" cy="1005840"/>
          </a:xfrm>
          <a:prstGeom prst="rect">
            <a:avLst/>
          </a:prstGeom>
          <a:solidFill>
            <a:srgbClr val="F0EDE8"/>
          </a:solidFill>
          <a:ln w="12700">
            <a:solidFill>
              <a:srgbClr val="22C55E">
                <a:alpha val="50000"/>
              </a:srgbClr>
            </a:solidFill>
            <a:prstDash val="solid"/>
          </a:ln>
          <a:effectLst>
            <a:outerShdw blurRad="101600" dist="38100" dir="8100000" algn="bl" rotWithShape="0">
              <a:srgbClr val="000000">
                <a:alpha val="25000"/>
              </a:srgbClr>
            </a:outerShdw>
          </a:effectLst>
        </p:spPr>
      </p:sp>
      <p:sp>
        <p:nvSpPr>
          <p:cNvPr id="18" name="Shape 16"/>
          <p:cNvSpPr/>
          <p:nvPr/>
        </p:nvSpPr>
        <p:spPr>
          <a:xfrm>
            <a:off x="6766560" y="1024128"/>
            <a:ext cx="2011680" cy="201168"/>
          </a:xfrm>
          <a:prstGeom prst="rect">
            <a:avLst/>
          </a:prstGeom>
          <a:solidFill>
            <a:srgbClr val="22C55E"/>
          </a:solidFill>
          <a:ln w="12700">
            <a:solidFill>
              <a:srgbClr val="22C55E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6766560" y="1207008"/>
            <a:ext cx="2011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200" b="1" dirty="0">
                <a:solidFill>
                  <a:srgbClr val="22C55E"/>
                </a:solidFill>
                <a:latin typeface="Georgia" pitchFamily="34" charset="0"/>
                <a:ea typeface="Segoe UI" pitchFamily="34" charset="-122"/>
                <a:cs typeface="Segoe UI" pitchFamily="34" charset="-120"/>
              </a:rPr>
              <a:t>28</a:t>
            </a:r>
            <a:endParaRPr lang="en-US" sz="3200" dirty="0"/>
          </a:p>
        </p:txBody>
      </p:sp>
      <p:sp>
        <p:nvSpPr>
          <p:cNvPr id="20" name="Text 18"/>
          <p:cNvSpPr/>
          <p:nvPr/>
        </p:nvSpPr>
        <p:spPr>
          <a:xfrm>
            <a:off x="6766560" y="1682496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6B7B6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UI/Browser/API/CLI</a:t>
            </a:r>
            <a:endParaRPr lang="en-US" sz="900" dirty="0"/>
          </a:p>
        </p:txBody>
      </p:sp>
      <p:sp>
        <p:nvSpPr>
          <p:cNvPr id="21" name="Text 19"/>
          <p:cNvSpPr/>
          <p:nvPr/>
        </p:nvSpPr>
        <p:spPr>
          <a:xfrm>
            <a:off x="320040" y="2157984"/>
            <a:ext cx="4114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2D2D2D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Bugs Found &amp; Fixed</a:t>
            </a:r>
            <a:endParaRPr lang="en-US" sz="1300" dirty="0"/>
          </a:p>
        </p:txBody>
      </p:sp>
      <p:graphicFrame>
        <p:nvGraphicFramePr>
          <p:cNvPr id="22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010243116"/>
              </p:ext>
            </p:extLst>
          </p:nvPr>
        </p:nvGraphicFramePr>
        <p:xfrm>
          <a:off x="320040" y="2487168"/>
          <a:ext cx="8458200" cy="2395730"/>
        </p:xfrm>
        <a:graphic>
          <a:graphicData uri="http://schemas.openxmlformats.org/drawingml/2006/table">
            <a:tbl>
              <a:tblPr/>
              <a:tblGrid>
                <a:gridCol w="219456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10896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15468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479146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b="1" dirty="0">
                          <a:solidFill>
                            <a:srgbClr val="2D2D2D"/>
                          </a:solidFill>
                        </a:rPr>
                        <a:t>Bug</a:t>
                      </a:r>
                      <a:endParaRPr lang="en-US" sz="1000" dirty="0"/>
                    </a:p>
                  </a:txBody>
                  <a:tcPr>
                    <a:lnL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87333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b="1" dirty="0">
                          <a:solidFill>
                            <a:srgbClr val="2D2D2D"/>
                          </a:solidFill>
                        </a:rPr>
                        <a:t>Root Cause</a:t>
                      </a:r>
                      <a:endParaRPr lang="en-US" sz="1000" dirty="0"/>
                    </a:p>
                  </a:txBody>
                  <a:tcPr>
                    <a:lnL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87333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b="1" dirty="0">
                          <a:solidFill>
                            <a:srgbClr val="2D2D2D"/>
                          </a:solidFill>
                        </a:rPr>
                        <a:t>Fix Applied</a:t>
                      </a:r>
                      <a:endParaRPr lang="en-US" sz="1000" dirty="0"/>
                    </a:p>
                  </a:txBody>
                  <a:tcPr>
                    <a:lnL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8733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79146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dirty="0">
                          <a:solidFill>
                            <a:srgbClr val="FFC000"/>
                          </a:solidFill>
                        </a:rPr>
                        <a:t>Windows charmap error</a:t>
                      </a:r>
                    </a:p>
                  </a:txBody>
                  <a:tcPr>
                    <a:lnL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5204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dirty="0">
                          <a:solidFill>
                            <a:srgbClr val="E2E8F0"/>
                          </a:solidFill>
                        </a:rPr>
                        <a:t>cp1252 vs UTF-8 conflict</a:t>
                      </a:r>
                      <a:endParaRPr lang="en-US" sz="950" dirty="0"/>
                    </a:p>
                  </a:txBody>
                  <a:tcPr>
                    <a:lnL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5204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dirty="0">
                          <a:solidFill>
                            <a:srgbClr val="E2E8F0"/>
                          </a:solidFill>
                        </a:rPr>
                        <a:t>io.TextIOWrapper redirect</a:t>
                      </a:r>
                      <a:endParaRPr lang="en-US" sz="950" dirty="0"/>
                    </a:p>
                  </a:txBody>
                  <a:tcPr>
                    <a:lnL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5204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79146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dirty="0">
                          <a:solidFill>
                            <a:srgbClr val="FFC000"/>
                          </a:solidFill>
                        </a:rPr>
                        <a:t>Markdown table plain text</a:t>
                      </a:r>
                    </a:p>
                  </a:txBody>
                  <a:tcPr>
                    <a:lnL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E4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dirty="0">
                          <a:solidFill>
                            <a:srgbClr val="E2E8F0"/>
                          </a:solidFill>
                        </a:rPr>
                        <a:t>Separator row not skipped</a:t>
                      </a:r>
                      <a:endParaRPr lang="en-US" sz="950" dirty="0"/>
                    </a:p>
                  </a:txBody>
                  <a:tcPr>
                    <a:lnL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E4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dirty="0">
                          <a:solidFill>
                            <a:srgbClr val="E2E8F0"/>
                          </a:solidFill>
                        </a:rPr>
                        <a:t>Rewrote table parser</a:t>
                      </a:r>
                      <a:endParaRPr lang="en-US" sz="950" dirty="0"/>
                    </a:p>
                  </a:txBody>
                  <a:tcPr>
                    <a:lnL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E4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79146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dirty="0">
                          <a:solidFill>
                            <a:srgbClr val="FFC000"/>
                          </a:solidFill>
                        </a:rPr>
                        <a:t>Empty followup crash</a:t>
                      </a:r>
                    </a:p>
                  </a:txBody>
                  <a:tcPr>
                    <a:lnL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5204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dirty="0">
                          <a:solidFill>
                            <a:srgbClr val="E2E8F0"/>
                          </a:solidFill>
                        </a:rPr>
                        <a:t>random.choice on []</a:t>
                      </a:r>
                      <a:endParaRPr lang="en-US" sz="950" dirty="0"/>
                    </a:p>
                  </a:txBody>
                  <a:tcPr>
                    <a:lnL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5204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dirty="0">
                          <a:solidFill>
                            <a:srgbClr val="E2E8F0"/>
                          </a:solidFill>
                        </a:rPr>
                        <a:t>Added length &gt; 0 check</a:t>
                      </a:r>
                      <a:endParaRPr lang="en-US" sz="950" dirty="0"/>
                    </a:p>
                  </a:txBody>
                  <a:tcPr>
                    <a:lnL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5204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79146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dirty="0">
                          <a:solidFill>
                            <a:srgbClr val="FFC000"/>
                          </a:solidFill>
                        </a:rPr>
                        <a:t>Chat no scroll-to-bottom</a:t>
                      </a:r>
                    </a:p>
                  </a:txBody>
                  <a:tcPr>
                    <a:lnL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E4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dirty="0">
                          <a:solidFill>
                            <a:srgbClr val="E2E8F0"/>
                          </a:solidFill>
                        </a:rPr>
                        <a:t>scrollTop not updated</a:t>
                      </a:r>
                      <a:endParaRPr lang="en-US" sz="950" dirty="0"/>
                    </a:p>
                  </a:txBody>
                  <a:tcPr>
                    <a:lnL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E4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dirty="0">
                          <a:solidFill>
                            <a:srgbClr val="E2E8F0"/>
                          </a:solidFill>
                        </a:rPr>
                        <a:t>scrollTop = scrollHeight</a:t>
                      </a:r>
                      <a:endParaRPr lang="en-US" sz="950" dirty="0"/>
                    </a:p>
                  </a:txBody>
                  <a:tcPr>
                    <a:lnL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E4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597426351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AF8F5">
            <a:alpha val="100000"/>
          </a:srgb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73152" cy="5143500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201168"/>
            <a:ext cx="84124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2D2D2D"/>
                </a:solidFill>
                <a:latin typeface="Georgia" pitchFamily="34" charset="0"/>
                <a:ea typeface="Segoe UI" pitchFamily="34" charset="-122"/>
                <a:cs typeface="Segoe UI" pitchFamily="34" charset="-120"/>
              </a:rPr>
              <a:t>Demo Walkthrough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365760" y="676656"/>
            <a:ext cx="8412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F59E0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End-to-end query:  "how to save income tax using 80C"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320040" y="1042416"/>
            <a:ext cx="4160520" cy="676656"/>
          </a:xfrm>
          <a:prstGeom prst="rect">
            <a:avLst/>
          </a:prstGeom>
          <a:solidFill>
            <a:srgbClr val="F0EDE8"/>
          </a:solidFill>
          <a:ln w="12700">
            <a:solidFill>
              <a:srgbClr val="B87333">
                <a:alpha val="30000"/>
              </a:srgbClr>
            </a:solidFill>
            <a:prstDash val="solid"/>
          </a:ln>
          <a:effectLst>
            <a:outerShdw blurRad="101600" dist="38100" dir="8100000" algn="bl" rotWithShape="0">
              <a:srgbClr val="000000">
                <a:alpha val="25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320040" y="1042416"/>
            <a:ext cx="329184" cy="676656"/>
          </a:xfrm>
          <a:prstGeom prst="rect">
            <a:avLst/>
          </a:prstGeom>
          <a:solidFill>
            <a:srgbClr val="B87333"/>
          </a:solidFill>
          <a:ln w="12700">
            <a:solidFill>
              <a:srgbClr val="B87333"/>
            </a:solidFill>
            <a:prstDash val="solid"/>
          </a:ln>
        </p:spPr>
        <p:txBody>
          <a:bodyPr/>
          <a:lstStyle/>
          <a:p>
            <a:endParaRPr lang="en-IN">
              <a:solidFill>
                <a:srgbClr val="FFFFFF"/>
              </a:solidFill>
            </a:endParaRPr>
          </a:p>
        </p:txBody>
      </p:sp>
      <p:sp>
        <p:nvSpPr>
          <p:cNvPr id="7" name="Text 5"/>
          <p:cNvSpPr/>
          <p:nvPr/>
        </p:nvSpPr>
        <p:spPr>
          <a:xfrm>
            <a:off x="320040" y="1042416"/>
            <a:ext cx="329184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2D2D2D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1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722376" y="1078992"/>
            <a:ext cx="1371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B8733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Browser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722376" y="1353312"/>
            <a:ext cx="367588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80" dirty="0">
                <a:solidFill>
                  <a:srgbClr val="6B7B6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User types query in textarea · presses Enter</a:t>
            </a:r>
            <a:endParaRPr lang="en-US" sz="880" dirty="0"/>
          </a:p>
        </p:txBody>
      </p:sp>
      <p:sp>
        <p:nvSpPr>
          <p:cNvPr id="10" name="Shape 8"/>
          <p:cNvSpPr/>
          <p:nvPr/>
        </p:nvSpPr>
        <p:spPr>
          <a:xfrm>
            <a:off x="320040" y="1828800"/>
            <a:ext cx="4160520" cy="676656"/>
          </a:xfrm>
          <a:prstGeom prst="rect">
            <a:avLst/>
          </a:prstGeom>
          <a:solidFill>
            <a:srgbClr val="F0EDE8"/>
          </a:solidFill>
          <a:ln w="12700">
            <a:solidFill>
              <a:srgbClr val="B87333">
                <a:alpha val="30000"/>
              </a:srgbClr>
            </a:solidFill>
            <a:prstDash val="solid"/>
          </a:ln>
          <a:effectLst>
            <a:outerShdw blurRad="101600" dist="38100" dir="8100000" algn="bl" rotWithShape="0">
              <a:srgbClr val="000000">
                <a:alpha val="25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320040" y="1828800"/>
            <a:ext cx="329184" cy="676656"/>
          </a:xfrm>
          <a:prstGeom prst="rect">
            <a:avLst/>
          </a:prstGeom>
          <a:solidFill>
            <a:srgbClr val="B87333"/>
          </a:solidFill>
          <a:ln w="12700">
            <a:solidFill>
              <a:srgbClr val="B87333"/>
            </a:solidFill>
            <a:prstDash val="solid"/>
          </a:ln>
        </p:spPr>
        <p:txBody>
          <a:bodyPr/>
          <a:lstStyle/>
          <a:p>
            <a:endParaRPr lang="en-IN">
              <a:solidFill>
                <a:srgbClr val="FFFFFF"/>
              </a:solidFill>
            </a:endParaRPr>
          </a:p>
        </p:txBody>
      </p:sp>
      <p:sp>
        <p:nvSpPr>
          <p:cNvPr id="12" name="Text 10"/>
          <p:cNvSpPr/>
          <p:nvPr/>
        </p:nvSpPr>
        <p:spPr>
          <a:xfrm>
            <a:off x="320040" y="1828800"/>
            <a:ext cx="329184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2D2D2D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2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722376" y="1865376"/>
            <a:ext cx="1371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B8733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JavaScript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722376" y="2139696"/>
            <a:ext cx="367588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80" dirty="0">
                <a:solidFill>
                  <a:srgbClr val="6B7B6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wSendMessage() → appendWMsg(input, true) → showTyping()</a:t>
            </a:r>
            <a:endParaRPr lang="en-US" sz="880" dirty="0"/>
          </a:p>
        </p:txBody>
      </p:sp>
      <p:sp>
        <p:nvSpPr>
          <p:cNvPr id="15" name="Shape 13"/>
          <p:cNvSpPr/>
          <p:nvPr/>
        </p:nvSpPr>
        <p:spPr>
          <a:xfrm>
            <a:off x="320040" y="2615184"/>
            <a:ext cx="4160520" cy="676656"/>
          </a:xfrm>
          <a:prstGeom prst="rect">
            <a:avLst/>
          </a:prstGeom>
          <a:solidFill>
            <a:srgbClr val="F0EDE8"/>
          </a:solidFill>
          <a:ln w="12700">
            <a:solidFill>
              <a:srgbClr val="F59E0B">
                <a:alpha val="30000"/>
              </a:srgbClr>
            </a:solidFill>
            <a:prstDash val="solid"/>
          </a:ln>
          <a:effectLst>
            <a:outerShdw blurRad="101600" dist="38100" dir="8100000" algn="bl" rotWithShape="0">
              <a:srgbClr val="000000">
                <a:alpha val="25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320040" y="2615184"/>
            <a:ext cx="329184" cy="676656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320040" y="2615184"/>
            <a:ext cx="329184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2D2D2D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3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722376" y="2651760"/>
            <a:ext cx="1371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F59E0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fetch()</a:t>
            </a:r>
            <a:endParaRPr lang="en-US" sz="1000" dirty="0"/>
          </a:p>
        </p:txBody>
      </p:sp>
      <p:sp>
        <p:nvSpPr>
          <p:cNvPr id="19" name="Text 17"/>
          <p:cNvSpPr/>
          <p:nvPr/>
        </p:nvSpPr>
        <p:spPr>
          <a:xfrm>
            <a:off x="722376" y="2926080"/>
            <a:ext cx="367588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80" dirty="0">
                <a:solidFill>
                  <a:srgbClr val="6B7B6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POST /api/chat  body: { "message": "how to save income tax using 80C" }</a:t>
            </a:r>
            <a:endParaRPr lang="en-US" sz="880" dirty="0"/>
          </a:p>
        </p:txBody>
      </p:sp>
      <p:sp>
        <p:nvSpPr>
          <p:cNvPr id="20" name="Shape 18"/>
          <p:cNvSpPr/>
          <p:nvPr/>
        </p:nvSpPr>
        <p:spPr>
          <a:xfrm>
            <a:off x="320040" y="3401568"/>
            <a:ext cx="4160520" cy="676656"/>
          </a:xfrm>
          <a:prstGeom prst="rect">
            <a:avLst/>
          </a:prstGeom>
          <a:solidFill>
            <a:srgbClr val="F0EDE8"/>
          </a:solidFill>
          <a:ln w="12700">
            <a:solidFill>
              <a:srgbClr val="F59E0B">
                <a:alpha val="30000"/>
              </a:srgbClr>
            </a:solidFill>
            <a:prstDash val="solid"/>
          </a:ln>
          <a:effectLst>
            <a:outerShdw blurRad="101600" dist="38100" dir="8100000" algn="bl" rotWithShape="0">
              <a:srgbClr val="000000">
                <a:alpha val="25000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320040" y="3401568"/>
            <a:ext cx="329184" cy="676656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320040" y="3401568"/>
            <a:ext cx="329184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2D2D2D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4</a:t>
            </a:r>
            <a:endParaRPr lang="en-US" sz="1300" dirty="0"/>
          </a:p>
        </p:txBody>
      </p:sp>
      <p:sp>
        <p:nvSpPr>
          <p:cNvPr id="23" name="Text 21"/>
          <p:cNvSpPr/>
          <p:nvPr/>
        </p:nvSpPr>
        <p:spPr>
          <a:xfrm>
            <a:off x="722376" y="3438144"/>
            <a:ext cx="1371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F59E0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app.py chat()</a:t>
            </a:r>
            <a:endParaRPr lang="en-US" sz="1000" dirty="0"/>
          </a:p>
        </p:txBody>
      </p:sp>
      <p:sp>
        <p:nvSpPr>
          <p:cNvPr id="24" name="Text 22"/>
          <p:cNvSpPr/>
          <p:nvPr/>
        </p:nvSpPr>
        <p:spPr>
          <a:xfrm>
            <a:off x="722376" y="3712464"/>
            <a:ext cx="367588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80" dirty="0">
                <a:solidFill>
                  <a:srgbClr val="6B7B6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request.get_json() → user_message = "how to save income tax using 80C"</a:t>
            </a:r>
            <a:endParaRPr lang="en-US" sz="880" dirty="0"/>
          </a:p>
        </p:txBody>
      </p:sp>
      <p:sp>
        <p:nvSpPr>
          <p:cNvPr id="25" name="Shape 23"/>
          <p:cNvSpPr/>
          <p:nvPr/>
        </p:nvSpPr>
        <p:spPr>
          <a:xfrm>
            <a:off x="320040" y="4187952"/>
            <a:ext cx="4160520" cy="676656"/>
          </a:xfrm>
          <a:prstGeom prst="rect">
            <a:avLst/>
          </a:prstGeom>
          <a:solidFill>
            <a:srgbClr val="F0EDE8"/>
          </a:solidFill>
          <a:ln w="12700">
            <a:solidFill>
              <a:srgbClr val="A855F7">
                <a:alpha val="30000"/>
              </a:srgbClr>
            </a:solidFill>
            <a:prstDash val="solid"/>
          </a:ln>
          <a:effectLst>
            <a:outerShdw blurRad="101600" dist="38100" dir="8100000" algn="bl" rotWithShape="0">
              <a:srgbClr val="000000">
                <a:alpha val="25000"/>
              </a:srgbClr>
            </a:outerShdw>
          </a:effectLst>
        </p:spPr>
      </p:sp>
      <p:sp>
        <p:nvSpPr>
          <p:cNvPr id="26" name="Shape 24"/>
          <p:cNvSpPr/>
          <p:nvPr/>
        </p:nvSpPr>
        <p:spPr>
          <a:xfrm>
            <a:off x="320040" y="4187952"/>
            <a:ext cx="329184" cy="676656"/>
          </a:xfrm>
          <a:prstGeom prst="rect">
            <a:avLst/>
          </a:prstGeom>
          <a:solidFill>
            <a:srgbClr val="A855F7"/>
          </a:solidFill>
          <a:ln w="12700">
            <a:solidFill>
              <a:srgbClr val="A855F7"/>
            </a:solidFill>
            <a:prstDash val="solid"/>
          </a:ln>
        </p:spPr>
        <p:txBody>
          <a:bodyPr/>
          <a:lstStyle/>
          <a:p>
            <a:endParaRPr lang="en-IN">
              <a:solidFill>
                <a:srgbClr val="FFFFFF"/>
              </a:solidFill>
            </a:endParaRPr>
          </a:p>
        </p:txBody>
      </p:sp>
      <p:sp>
        <p:nvSpPr>
          <p:cNvPr id="27" name="Text 25"/>
          <p:cNvSpPr/>
          <p:nvPr/>
        </p:nvSpPr>
        <p:spPr>
          <a:xfrm>
            <a:off x="320040" y="4187952"/>
            <a:ext cx="329184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2D2D2D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5</a:t>
            </a:r>
            <a:endParaRPr lang="en-US" sz="1300" dirty="0"/>
          </a:p>
        </p:txBody>
      </p:sp>
      <p:sp>
        <p:nvSpPr>
          <p:cNvPr id="28" name="Text 26"/>
          <p:cNvSpPr/>
          <p:nvPr/>
        </p:nvSpPr>
        <p:spPr>
          <a:xfrm>
            <a:off x="722376" y="4224528"/>
            <a:ext cx="1371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A855F7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preprocess()</a:t>
            </a:r>
            <a:endParaRPr lang="en-US" sz="1000" dirty="0"/>
          </a:p>
        </p:txBody>
      </p:sp>
      <p:sp>
        <p:nvSpPr>
          <p:cNvPr id="29" name="Text 27"/>
          <p:cNvSpPr/>
          <p:nvPr/>
        </p:nvSpPr>
        <p:spPr>
          <a:xfrm>
            <a:off x="722376" y="4498848"/>
            <a:ext cx="367588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80" dirty="0">
                <a:solidFill>
                  <a:srgbClr val="6B7B6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→ ["how","to","save","income","tax","using","80c"]</a:t>
            </a:r>
            <a:endParaRPr lang="en-US" sz="880" dirty="0"/>
          </a:p>
        </p:txBody>
      </p:sp>
      <p:sp>
        <p:nvSpPr>
          <p:cNvPr id="30" name="Shape 28"/>
          <p:cNvSpPr/>
          <p:nvPr/>
        </p:nvSpPr>
        <p:spPr>
          <a:xfrm>
            <a:off x="4754880" y="1828800"/>
            <a:ext cx="4160520" cy="676656"/>
          </a:xfrm>
          <a:prstGeom prst="rect">
            <a:avLst/>
          </a:prstGeom>
          <a:solidFill>
            <a:srgbClr val="F0EDE8"/>
          </a:solidFill>
          <a:ln w="12700">
            <a:solidFill>
              <a:srgbClr val="22C55E">
                <a:alpha val="30000"/>
              </a:srgbClr>
            </a:solidFill>
            <a:prstDash val="solid"/>
          </a:ln>
          <a:effectLst>
            <a:outerShdw blurRad="101600" dist="38100" dir="8100000" algn="bl" rotWithShape="0">
              <a:srgbClr val="000000">
                <a:alpha val="25000"/>
              </a:srgbClr>
            </a:outerShdw>
          </a:effectLst>
        </p:spPr>
      </p:sp>
      <p:sp>
        <p:nvSpPr>
          <p:cNvPr id="31" name="Shape 29"/>
          <p:cNvSpPr/>
          <p:nvPr/>
        </p:nvSpPr>
        <p:spPr>
          <a:xfrm>
            <a:off x="4754880" y="1828800"/>
            <a:ext cx="329184" cy="676656"/>
          </a:xfrm>
          <a:prstGeom prst="rect">
            <a:avLst/>
          </a:prstGeom>
          <a:solidFill>
            <a:srgbClr val="22C55E"/>
          </a:solidFill>
          <a:ln w="12700">
            <a:solidFill>
              <a:srgbClr val="22C55E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4754880" y="1828800"/>
            <a:ext cx="329184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2D2D2D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7</a:t>
            </a:r>
            <a:endParaRPr lang="en-US" sz="1300" dirty="0"/>
          </a:p>
        </p:txBody>
      </p:sp>
      <p:sp>
        <p:nvSpPr>
          <p:cNvPr id="33" name="Text 31"/>
          <p:cNvSpPr/>
          <p:nvPr/>
        </p:nvSpPr>
        <p:spPr>
          <a:xfrm>
            <a:off x="5157216" y="1865376"/>
            <a:ext cx="1371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22C55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max(scores)</a:t>
            </a:r>
            <a:endParaRPr lang="en-US" sz="1000" dirty="0"/>
          </a:p>
        </p:txBody>
      </p:sp>
      <p:sp>
        <p:nvSpPr>
          <p:cNvPr id="34" name="Text 32"/>
          <p:cNvSpPr/>
          <p:nvPr/>
        </p:nvSpPr>
        <p:spPr>
          <a:xfrm>
            <a:off x="5157216" y="2139696"/>
            <a:ext cx="367588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80" dirty="0">
                <a:solidFill>
                  <a:srgbClr val="6B7B6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best_category = "tax"  ·  confidence = min(100, 8×20) = 100%</a:t>
            </a:r>
            <a:endParaRPr lang="en-US" sz="880" dirty="0"/>
          </a:p>
        </p:txBody>
      </p:sp>
      <p:sp>
        <p:nvSpPr>
          <p:cNvPr id="35" name="Shape 33"/>
          <p:cNvSpPr/>
          <p:nvPr/>
        </p:nvSpPr>
        <p:spPr>
          <a:xfrm>
            <a:off x="4754880" y="2615184"/>
            <a:ext cx="4160520" cy="676656"/>
          </a:xfrm>
          <a:prstGeom prst="rect">
            <a:avLst/>
          </a:prstGeom>
          <a:solidFill>
            <a:srgbClr val="F0EDE8"/>
          </a:solidFill>
          <a:ln w="12700">
            <a:solidFill>
              <a:srgbClr val="22C55E">
                <a:alpha val="30000"/>
              </a:srgbClr>
            </a:solidFill>
            <a:prstDash val="solid"/>
          </a:ln>
          <a:effectLst>
            <a:outerShdw blurRad="101600" dist="38100" dir="8100000" algn="bl" rotWithShape="0">
              <a:srgbClr val="000000">
                <a:alpha val="25000"/>
              </a:srgbClr>
            </a:outerShdw>
          </a:effectLst>
        </p:spPr>
      </p:sp>
      <p:sp>
        <p:nvSpPr>
          <p:cNvPr id="36" name="Shape 34"/>
          <p:cNvSpPr/>
          <p:nvPr/>
        </p:nvSpPr>
        <p:spPr>
          <a:xfrm>
            <a:off x="4754880" y="2615184"/>
            <a:ext cx="329184" cy="676656"/>
          </a:xfrm>
          <a:prstGeom prst="rect">
            <a:avLst/>
          </a:prstGeom>
          <a:solidFill>
            <a:srgbClr val="22C55E"/>
          </a:solidFill>
          <a:ln w="12700">
            <a:solidFill>
              <a:srgbClr val="22C55E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4754880" y="2615184"/>
            <a:ext cx="329184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2D2D2D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8</a:t>
            </a:r>
            <a:endParaRPr lang="en-US" sz="1300" dirty="0"/>
          </a:p>
        </p:txBody>
      </p:sp>
      <p:sp>
        <p:nvSpPr>
          <p:cNvPr id="38" name="Text 36"/>
          <p:cNvSpPr/>
          <p:nvPr/>
        </p:nvSpPr>
        <p:spPr>
          <a:xfrm>
            <a:off x="5157216" y="2651760"/>
            <a:ext cx="1371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22C55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jsonify(result)</a:t>
            </a:r>
            <a:endParaRPr lang="en-US" sz="1000" dirty="0"/>
          </a:p>
        </p:txBody>
      </p:sp>
      <p:sp>
        <p:nvSpPr>
          <p:cNvPr id="39" name="Text 37"/>
          <p:cNvSpPr/>
          <p:nvPr/>
        </p:nvSpPr>
        <p:spPr>
          <a:xfrm>
            <a:off x="5157216" y="2926080"/>
            <a:ext cx="367588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80" dirty="0">
                <a:solidFill>
                  <a:srgbClr val="6B7B6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{ response:"[TAX]...", category:"tax", confidence:100, followup:"..." }</a:t>
            </a:r>
            <a:endParaRPr lang="en-US" sz="880" dirty="0"/>
          </a:p>
        </p:txBody>
      </p:sp>
      <p:sp>
        <p:nvSpPr>
          <p:cNvPr id="40" name="Shape 38"/>
          <p:cNvSpPr/>
          <p:nvPr/>
        </p:nvSpPr>
        <p:spPr>
          <a:xfrm>
            <a:off x="4754880" y="3401568"/>
            <a:ext cx="4160520" cy="676656"/>
          </a:xfrm>
          <a:prstGeom prst="rect">
            <a:avLst/>
          </a:prstGeom>
          <a:solidFill>
            <a:srgbClr val="F0EDE8"/>
          </a:solidFill>
          <a:ln w="12700">
            <a:solidFill>
              <a:srgbClr val="B87333">
                <a:alpha val="30000"/>
              </a:srgbClr>
            </a:solidFill>
            <a:prstDash val="solid"/>
          </a:ln>
          <a:effectLst>
            <a:outerShdw blurRad="101600" dist="38100" dir="8100000" algn="bl" rotWithShape="0">
              <a:srgbClr val="000000">
                <a:alpha val="25000"/>
              </a:srgbClr>
            </a:outerShdw>
          </a:effectLst>
        </p:spPr>
      </p:sp>
      <p:sp>
        <p:nvSpPr>
          <p:cNvPr id="41" name="Shape 39"/>
          <p:cNvSpPr/>
          <p:nvPr/>
        </p:nvSpPr>
        <p:spPr>
          <a:xfrm>
            <a:off x="4754880" y="3401568"/>
            <a:ext cx="329184" cy="676656"/>
          </a:xfrm>
          <a:prstGeom prst="rect">
            <a:avLst/>
          </a:prstGeom>
          <a:solidFill>
            <a:srgbClr val="B87333"/>
          </a:solidFill>
          <a:ln w="12700">
            <a:solidFill>
              <a:srgbClr val="B87333"/>
            </a:solidFill>
            <a:prstDash val="solid"/>
          </a:ln>
        </p:spPr>
        <p:txBody>
          <a:bodyPr/>
          <a:lstStyle/>
          <a:p>
            <a:endParaRPr lang="en-IN">
              <a:solidFill>
                <a:srgbClr val="FFFFFF"/>
              </a:solidFill>
            </a:endParaRPr>
          </a:p>
        </p:txBody>
      </p:sp>
      <p:sp>
        <p:nvSpPr>
          <p:cNvPr id="42" name="Text 40"/>
          <p:cNvSpPr/>
          <p:nvPr/>
        </p:nvSpPr>
        <p:spPr>
          <a:xfrm>
            <a:off x="4754880" y="3401568"/>
            <a:ext cx="329184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2D2D2D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9</a:t>
            </a:r>
            <a:endParaRPr lang="en-US" sz="1300" dirty="0"/>
          </a:p>
        </p:txBody>
      </p:sp>
      <p:sp>
        <p:nvSpPr>
          <p:cNvPr id="43" name="Text 41"/>
          <p:cNvSpPr/>
          <p:nvPr/>
        </p:nvSpPr>
        <p:spPr>
          <a:xfrm>
            <a:off x="5157216" y="3438144"/>
            <a:ext cx="1371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B8733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JavaScript</a:t>
            </a:r>
            <a:endParaRPr lang="en-US" sz="1000" dirty="0"/>
          </a:p>
        </p:txBody>
      </p:sp>
      <p:sp>
        <p:nvSpPr>
          <p:cNvPr id="44" name="Text 42"/>
          <p:cNvSpPr/>
          <p:nvPr/>
        </p:nvSpPr>
        <p:spPr>
          <a:xfrm>
            <a:off x="5157216" y="3712464"/>
            <a:ext cx="367588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80" dirty="0">
                <a:solidFill>
                  <a:srgbClr val="6B7B6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hideTyping() → appendWMsg(response, false) → animates confidence bar to 100%</a:t>
            </a:r>
            <a:endParaRPr lang="en-US" sz="880" dirty="0"/>
          </a:p>
        </p:txBody>
      </p:sp>
      <p:sp>
        <p:nvSpPr>
          <p:cNvPr id="45" name="Shape 43"/>
          <p:cNvSpPr/>
          <p:nvPr/>
        </p:nvSpPr>
        <p:spPr>
          <a:xfrm>
            <a:off x="4754880" y="1042416"/>
            <a:ext cx="4160520" cy="676656"/>
          </a:xfrm>
          <a:prstGeom prst="rect">
            <a:avLst/>
          </a:prstGeom>
          <a:solidFill>
            <a:srgbClr val="F0EDE8"/>
          </a:solidFill>
          <a:ln w="12700">
            <a:solidFill>
              <a:srgbClr val="A855F7">
                <a:alpha val="30000"/>
              </a:srgbClr>
            </a:solidFill>
            <a:prstDash val="solid"/>
          </a:ln>
          <a:effectLst>
            <a:outerShdw blurRad="101600" dist="38100" dir="8100000" algn="bl" rotWithShape="0">
              <a:srgbClr val="000000">
                <a:alpha val="25000"/>
              </a:srgbClr>
            </a:outerShdw>
          </a:effectLst>
        </p:spPr>
      </p:sp>
      <p:sp>
        <p:nvSpPr>
          <p:cNvPr id="46" name="Shape 44"/>
          <p:cNvSpPr/>
          <p:nvPr/>
        </p:nvSpPr>
        <p:spPr>
          <a:xfrm>
            <a:off x="4754880" y="1042416"/>
            <a:ext cx="329184" cy="676656"/>
          </a:xfrm>
          <a:prstGeom prst="rect">
            <a:avLst/>
          </a:prstGeom>
          <a:solidFill>
            <a:srgbClr val="A855F7"/>
          </a:solidFill>
          <a:ln w="12700">
            <a:solidFill>
              <a:srgbClr val="A855F7"/>
            </a:solidFill>
            <a:prstDash val="solid"/>
          </a:ln>
        </p:spPr>
        <p:txBody>
          <a:bodyPr/>
          <a:lstStyle/>
          <a:p>
            <a:endParaRPr lang="en-IN">
              <a:solidFill>
                <a:srgbClr val="FFFFFF"/>
              </a:solidFill>
            </a:endParaRPr>
          </a:p>
        </p:txBody>
      </p:sp>
      <p:sp>
        <p:nvSpPr>
          <p:cNvPr id="47" name="Text 45"/>
          <p:cNvSpPr/>
          <p:nvPr/>
        </p:nvSpPr>
        <p:spPr>
          <a:xfrm>
            <a:off x="4754880" y="1042416"/>
            <a:ext cx="329184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2D2D2D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6</a:t>
            </a:r>
            <a:endParaRPr lang="en-US" sz="1300" dirty="0"/>
          </a:p>
        </p:txBody>
      </p:sp>
      <p:sp>
        <p:nvSpPr>
          <p:cNvPr id="48" name="Text 46"/>
          <p:cNvSpPr/>
          <p:nvPr/>
        </p:nvSpPr>
        <p:spPr>
          <a:xfrm>
            <a:off x="5157216" y="1078992"/>
            <a:ext cx="1828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A855F7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score_category()</a:t>
            </a:r>
            <a:endParaRPr lang="en-US" sz="1000" dirty="0"/>
          </a:p>
        </p:txBody>
      </p:sp>
      <p:sp>
        <p:nvSpPr>
          <p:cNvPr id="49" name="Text 47"/>
          <p:cNvSpPr/>
          <p:nvPr/>
        </p:nvSpPr>
        <p:spPr>
          <a:xfrm>
            <a:off x="5157216" y="1353312"/>
            <a:ext cx="367588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80" dirty="0">
                <a:solidFill>
                  <a:srgbClr val="6B7B6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tax scores: 'income tax'=3, 'tax'=2, '80c'=2, 'saving'=1 → total=8</a:t>
            </a:r>
            <a:endParaRPr lang="en-US" sz="880" dirty="0"/>
          </a:p>
        </p:txBody>
      </p:sp>
    </p:spTree>
    <p:extLst>
      <p:ext uri="{BB962C8B-B14F-4D97-AF65-F5344CB8AC3E}">
        <p14:creationId xmlns:p14="http://schemas.microsoft.com/office/powerpoint/2010/main" val="2632308457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AF8F5">
            <a:alpha val="100000"/>
          </a:srgb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73152" cy="5143500"/>
          </a:xfrm>
          <a:prstGeom prst="rect">
            <a:avLst/>
          </a:prstGeom>
          <a:solidFill>
            <a:srgbClr val="B87333"/>
          </a:solidFill>
          <a:ln w="12700">
            <a:solidFill>
              <a:srgbClr val="B87333"/>
            </a:solidFill>
            <a:prstDash val="solid"/>
          </a:ln>
        </p:spPr>
        <p:txBody>
          <a:bodyPr/>
          <a:lstStyle/>
          <a:p>
            <a:endParaRPr lang="en-IN">
              <a:solidFill>
                <a:srgbClr val="FFFFFF"/>
              </a:solidFill>
            </a:endParaRPr>
          </a:p>
        </p:txBody>
      </p:sp>
      <p:sp>
        <p:nvSpPr>
          <p:cNvPr id="3" name="Text 1"/>
          <p:cNvSpPr/>
          <p:nvPr/>
        </p:nvSpPr>
        <p:spPr>
          <a:xfrm>
            <a:off x="365760" y="201168"/>
            <a:ext cx="84124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2D2D2D"/>
                </a:solidFill>
                <a:latin typeface="Georgia" pitchFamily="34" charset="0"/>
                <a:ea typeface="Segoe UI" pitchFamily="34" charset="-122"/>
                <a:cs typeface="Segoe UI" pitchFamily="34" charset="-120"/>
              </a:rPr>
              <a:t>Customer Testing &amp; Evaluation</a:t>
            </a:r>
            <a:endParaRPr lang="en-US" sz="3000" dirty="0"/>
          </a:p>
        </p:txBody>
      </p:sp>
      <p:graphicFrame>
        <p:nvGraphicFramePr>
          <p:cNvPr id="4" name="Chart 0"/>
          <p:cNvGraphicFramePr/>
          <p:nvPr/>
        </p:nvGraphicFramePr>
        <p:xfrm>
          <a:off x="320040" y="804672"/>
          <a:ext cx="4937760" cy="310896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5" name="Text 2"/>
          <p:cNvSpPr/>
          <p:nvPr/>
        </p:nvSpPr>
        <p:spPr>
          <a:xfrm>
            <a:off x="320040" y="3931920"/>
            <a:ext cx="49377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6B7B6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5-Student User Testing  ·  Average Score: 4.48 / 5</a:t>
            </a:r>
            <a:endParaRPr lang="en-US" sz="1000" dirty="0"/>
          </a:p>
        </p:txBody>
      </p:sp>
      <p:sp>
        <p:nvSpPr>
          <p:cNvPr id="6" name="Shape 3"/>
          <p:cNvSpPr/>
          <p:nvPr/>
        </p:nvSpPr>
        <p:spPr>
          <a:xfrm>
            <a:off x="5440680" y="804672"/>
            <a:ext cx="3337560" cy="566928"/>
          </a:xfrm>
          <a:prstGeom prst="rect">
            <a:avLst/>
          </a:prstGeom>
          <a:solidFill>
            <a:srgbClr val="F0EDE8"/>
          </a:solidFill>
          <a:ln w="12700">
            <a:solidFill>
              <a:srgbClr val="B87333">
                <a:alpha val="30000"/>
              </a:srgbClr>
            </a:solidFill>
            <a:prstDash val="solid"/>
          </a:ln>
          <a:effectLst>
            <a:outerShdw blurRad="101600" dist="38100" dir="8100000" algn="bl" rotWithShape="0">
              <a:srgbClr val="000000">
                <a:alpha val="25000"/>
              </a:srgbClr>
            </a:outerShdw>
          </a:effectLst>
        </p:spPr>
      </p:sp>
      <p:sp>
        <p:nvSpPr>
          <p:cNvPr id="7" name="Text 4"/>
          <p:cNvSpPr/>
          <p:nvPr/>
        </p:nvSpPr>
        <p:spPr>
          <a:xfrm>
            <a:off x="5522976" y="841248"/>
            <a:ext cx="318211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B8733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✅ 100% topic accuracy</a:t>
            </a:r>
            <a:endParaRPr lang="en-US" sz="1050" dirty="0"/>
          </a:p>
        </p:txBody>
      </p:sp>
      <p:sp>
        <p:nvSpPr>
          <p:cNvPr id="8" name="Text 5"/>
          <p:cNvSpPr/>
          <p:nvPr/>
        </p:nvSpPr>
        <p:spPr>
          <a:xfrm>
            <a:off x="5522976" y="1097280"/>
            <a:ext cx="318211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B7B6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All 39 unit test cases matched correct category</a:t>
            </a:r>
            <a:endParaRPr lang="en-US" sz="900" dirty="0"/>
          </a:p>
        </p:txBody>
      </p:sp>
      <p:sp>
        <p:nvSpPr>
          <p:cNvPr id="9" name="Shape 6"/>
          <p:cNvSpPr/>
          <p:nvPr/>
        </p:nvSpPr>
        <p:spPr>
          <a:xfrm>
            <a:off x="5440680" y="1463040"/>
            <a:ext cx="3337560" cy="566928"/>
          </a:xfrm>
          <a:prstGeom prst="rect">
            <a:avLst/>
          </a:prstGeom>
          <a:solidFill>
            <a:srgbClr val="F0EDE8"/>
          </a:solidFill>
          <a:ln w="12700">
            <a:solidFill>
              <a:srgbClr val="B87333">
                <a:alpha val="30000"/>
              </a:srgbClr>
            </a:solidFill>
            <a:prstDash val="solid"/>
          </a:ln>
          <a:effectLst>
            <a:outerShdw blurRad="101600" dist="38100" dir="8100000" algn="bl" rotWithShape="0">
              <a:srgbClr val="000000">
                <a:alpha val="25000"/>
              </a:srgbClr>
            </a:outerShdw>
          </a:effectLst>
        </p:spPr>
      </p:sp>
      <p:sp>
        <p:nvSpPr>
          <p:cNvPr id="10" name="Text 7"/>
          <p:cNvSpPr/>
          <p:nvPr/>
        </p:nvSpPr>
        <p:spPr>
          <a:xfrm>
            <a:off x="5522976" y="1499616"/>
            <a:ext cx="318211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B8733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✅ Two interface modes</a:t>
            </a:r>
            <a:endParaRPr lang="en-US" sz="1050" dirty="0"/>
          </a:p>
        </p:txBody>
      </p:sp>
      <p:sp>
        <p:nvSpPr>
          <p:cNvPr id="11" name="Text 8"/>
          <p:cNvSpPr/>
          <p:nvPr/>
        </p:nvSpPr>
        <p:spPr>
          <a:xfrm>
            <a:off x="5522976" y="1755648"/>
            <a:ext cx="318211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B7B6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Web widget and CLI both fully functional</a:t>
            </a:r>
            <a:endParaRPr lang="en-US" sz="900" dirty="0"/>
          </a:p>
        </p:txBody>
      </p:sp>
      <p:sp>
        <p:nvSpPr>
          <p:cNvPr id="12" name="Shape 9"/>
          <p:cNvSpPr/>
          <p:nvPr/>
        </p:nvSpPr>
        <p:spPr>
          <a:xfrm>
            <a:off x="5440680" y="2121408"/>
            <a:ext cx="3337560" cy="566928"/>
          </a:xfrm>
          <a:prstGeom prst="rect">
            <a:avLst/>
          </a:prstGeom>
          <a:solidFill>
            <a:srgbClr val="F0EDE8"/>
          </a:solidFill>
          <a:ln w="12700">
            <a:solidFill>
              <a:srgbClr val="B87333">
                <a:alpha val="30000"/>
              </a:srgbClr>
            </a:solidFill>
            <a:prstDash val="solid"/>
          </a:ln>
          <a:effectLst>
            <a:outerShdw blurRad="101600" dist="38100" dir="8100000" algn="bl" rotWithShape="0">
              <a:srgbClr val="000000">
                <a:alpha val="25000"/>
              </a:srgbClr>
            </a:outerShdw>
          </a:effectLst>
        </p:spPr>
      </p:sp>
      <p:sp>
        <p:nvSpPr>
          <p:cNvPr id="13" name="Text 10"/>
          <p:cNvSpPr/>
          <p:nvPr/>
        </p:nvSpPr>
        <p:spPr>
          <a:xfrm>
            <a:off x="5522976" y="2157984"/>
            <a:ext cx="318211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B8733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✅ &lt; 10ms response time</a:t>
            </a:r>
            <a:endParaRPr lang="en-US" sz="1050" dirty="0"/>
          </a:p>
        </p:txBody>
      </p:sp>
      <p:sp>
        <p:nvSpPr>
          <p:cNvPr id="14" name="Text 11"/>
          <p:cNvSpPr/>
          <p:nvPr/>
        </p:nvSpPr>
        <p:spPr>
          <a:xfrm>
            <a:off x="5522976" y="2414016"/>
            <a:ext cx="318211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B7B6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In-memory dict — no database latency</a:t>
            </a:r>
            <a:endParaRPr lang="en-US" sz="900" dirty="0"/>
          </a:p>
        </p:txBody>
      </p:sp>
      <p:sp>
        <p:nvSpPr>
          <p:cNvPr id="15" name="Shape 12"/>
          <p:cNvSpPr/>
          <p:nvPr/>
        </p:nvSpPr>
        <p:spPr>
          <a:xfrm>
            <a:off x="5440680" y="2779776"/>
            <a:ext cx="3337560" cy="566928"/>
          </a:xfrm>
          <a:prstGeom prst="rect">
            <a:avLst/>
          </a:prstGeom>
          <a:solidFill>
            <a:srgbClr val="F0EDE8"/>
          </a:solidFill>
          <a:ln w="12700">
            <a:solidFill>
              <a:srgbClr val="B87333">
                <a:alpha val="30000"/>
              </a:srgbClr>
            </a:solidFill>
            <a:prstDash val="solid"/>
          </a:ln>
          <a:effectLst>
            <a:outerShdw blurRad="101600" dist="38100" dir="8100000" algn="bl" rotWithShape="0">
              <a:srgbClr val="000000">
                <a:alpha val="25000"/>
              </a:srgbClr>
            </a:outerShdw>
          </a:effectLst>
        </p:spPr>
      </p:sp>
      <p:sp>
        <p:nvSpPr>
          <p:cNvPr id="16" name="Text 13"/>
          <p:cNvSpPr/>
          <p:nvPr/>
        </p:nvSpPr>
        <p:spPr>
          <a:xfrm>
            <a:off x="5522976" y="2816352"/>
            <a:ext cx="318211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B8733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✅ 1 dependency only</a:t>
            </a:r>
            <a:endParaRPr lang="en-US" sz="1050" dirty="0"/>
          </a:p>
        </p:txBody>
      </p:sp>
      <p:sp>
        <p:nvSpPr>
          <p:cNvPr id="17" name="Text 14"/>
          <p:cNvSpPr/>
          <p:nvPr/>
        </p:nvSpPr>
        <p:spPr>
          <a:xfrm>
            <a:off x="5522976" y="3072384"/>
            <a:ext cx="318211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B7B6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Just pip install flask and run</a:t>
            </a:r>
            <a:endParaRPr lang="en-US" sz="900" dirty="0"/>
          </a:p>
        </p:txBody>
      </p:sp>
      <p:sp>
        <p:nvSpPr>
          <p:cNvPr id="18" name="Shape 15"/>
          <p:cNvSpPr/>
          <p:nvPr/>
        </p:nvSpPr>
        <p:spPr>
          <a:xfrm>
            <a:off x="5440680" y="3438144"/>
            <a:ext cx="3337560" cy="566928"/>
          </a:xfrm>
          <a:prstGeom prst="rect">
            <a:avLst/>
          </a:prstGeom>
          <a:solidFill>
            <a:srgbClr val="F0EDE8"/>
          </a:solidFill>
          <a:ln w="12700">
            <a:solidFill>
              <a:srgbClr val="F59E0B">
                <a:alpha val="30000"/>
              </a:srgbClr>
            </a:solidFill>
            <a:prstDash val="solid"/>
          </a:ln>
          <a:effectLst>
            <a:outerShdw blurRad="101600" dist="38100" dir="8100000" algn="bl" rotWithShape="0">
              <a:srgbClr val="000000">
                <a:alpha val="25000"/>
              </a:srgbClr>
            </a:outerShdw>
          </a:effectLst>
        </p:spPr>
      </p:sp>
      <p:sp>
        <p:nvSpPr>
          <p:cNvPr id="19" name="Text 16"/>
          <p:cNvSpPr/>
          <p:nvPr/>
        </p:nvSpPr>
        <p:spPr>
          <a:xfrm>
            <a:off x="5522976" y="3474720"/>
            <a:ext cx="318211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F59E0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⚠️ No conversation memory</a:t>
            </a:r>
            <a:endParaRPr lang="en-US" sz="1050" dirty="0"/>
          </a:p>
        </p:txBody>
      </p:sp>
      <p:sp>
        <p:nvSpPr>
          <p:cNvPr id="20" name="Text 17"/>
          <p:cNvSpPr/>
          <p:nvPr/>
        </p:nvSpPr>
        <p:spPr>
          <a:xfrm>
            <a:off x="5522976" y="3730752"/>
            <a:ext cx="318211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B7B6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Each query is stateless — no context</a:t>
            </a:r>
            <a:endParaRPr lang="en-US" sz="900" dirty="0"/>
          </a:p>
        </p:txBody>
      </p:sp>
      <p:sp>
        <p:nvSpPr>
          <p:cNvPr id="21" name="Shape 18"/>
          <p:cNvSpPr/>
          <p:nvPr/>
        </p:nvSpPr>
        <p:spPr>
          <a:xfrm>
            <a:off x="5440680" y="4096512"/>
            <a:ext cx="3337560" cy="566928"/>
          </a:xfrm>
          <a:prstGeom prst="rect">
            <a:avLst/>
          </a:prstGeom>
          <a:solidFill>
            <a:srgbClr val="F0EDE8"/>
          </a:solidFill>
          <a:ln w="12700">
            <a:solidFill>
              <a:srgbClr val="F59E0B">
                <a:alpha val="30000"/>
              </a:srgbClr>
            </a:solidFill>
            <a:prstDash val="solid"/>
          </a:ln>
          <a:effectLst>
            <a:outerShdw blurRad="101600" dist="38100" dir="8100000" algn="bl" rotWithShape="0">
              <a:srgbClr val="000000">
                <a:alpha val="25000"/>
              </a:srgbClr>
            </a:outerShdw>
          </a:effectLst>
        </p:spPr>
      </p:sp>
      <p:sp>
        <p:nvSpPr>
          <p:cNvPr id="22" name="Text 19"/>
          <p:cNvSpPr/>
          <p:nvPr/>
        </p:nvSpPr>
        <p:spPr>
          <a:xfrm>
            <a:off x="5522976" y="4133088"/>
            <a:ext cx="318211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F59E0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⚠️ Fixed vocabulary</a:t>
            </a:r>
            <a:endParaRPr lang="en-US" sz="1050" dirty="0"/>
          </a:p>
        </p:txBody>
      </p:sp>
      <p:sp>
        <p:nvSpPr>
          <p:cNvPr id="23" name="Text 20"/>
          <p:cNvSpPr/>
          <p:nvPr/>
        </p:nvSpPr>
        <p:spPr>
          <a:xfrm>
            <a:off x="5522976" y="4389120"/>
            <a:ext cx="318211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B7B6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Only covers 10 predefined finance topics</a:t>
            </a:r>
            <a:endParaRPr lang="en-US" sz="900" dirty="0"/>
          </a:p>
        </p:txBody>
      </p:sp>
    </p:spTree>
    <p:extLst>
      <p:ext uri="{BB962C8B-B14F-4D97-AF65-F5344CB8AC3E}">
        <p14:creationId xmlns:p14="http://schemas.microsoft.com/office/powerpoint/2010/main" val="2471740113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AF8F5">
            <a:alpha val="100000"/>
          </a:srgb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73152" cy="5143500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201168"/>
            <a:ext cx="84124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2D2D2D"/>
                </a:solidFill>
                <a:latin typeface="Georgia" pitchFamily="34" charset="0"/>
                <a:ea typeface="Segoe UI" pitchFamily="34" charset="-122"/>
                <a:cs typeface="Segoe UI" pitchFamily="34" charset="-120"/>
              </a:rPr>
              <a:t>Future Development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320040" y="822960"/>
            <a:ext cx="2788920" cy="1847088"/>
          </a:xfrm>
          <a:prstGeom prst="rect">
            <a:avLst/>
          </a:prstGeom>
          <a:solidFill>
            <a:srgbClr val="F0EDE8"/>
          </a:solidFill>
          <a:ln w="12700">
            <a:solidFill>
              <a:srgbClr val="B87333">
                <a:alpha val="40000"/>
              </a:srgbClr>
            </a:solidFill>
            <a:prstDash val="solid"/>
          </a:ln>
          <a:effectLst>
            <a:outerShdw blurRad="101600" dist="38100" dir="8100000" algn="bl" rotWithShape="0">
              <a:srgbClr val="000000">
                <a:alpha val="25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320040" y="822960"/>
            <a:ext cx="2788920" cy="292608"/>
          </a:xfrm>
          <a:prstGeom prst="rect">
            <a:avLst/>
          </a:prstGeom>
          <a:solidFill>
            <a:srgbClr val="B87333">
              <a:alpha val="89804"/>
            </a:srgbClr>
          </a:solidFill>
          <a:ln w="12700">
            <a:solidFill>
              <a:srgbClr val="B87333"/>
            </a:solidFill>
            <a:prstDash val="solid"/>
          </a:ln>
        </p:spPr>
        <p:txBody>
          <a:bodyPr/>
          <a:lstStyle/>
          <a:p>
            <a:endParaRPr lang="en-IN">
              <a:solidFill>
                <a:srgbClr val="FFFFFF"/>
              </a:solidFill>
            </a:endParaRPr>
          </a:p>
        </p:txBody>
      </p:sp>
      <p:sp>
        <p:nvSpPr>
          <p:cNvPr id="6" name="Text 4"/>
          <p:cNvSpPr/>
          <p:nvPr/>
        </p:nvSpPr>
        <p:spPr>
          <a:xfrm>
            <a:off x="374904" y="822960"/>
            <a:ext cx="20116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b="1" dirty="0">
                <a:solidFill>
                  <a:srgbClr val="2D2D2D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HIGH PRIORITY</a:t>
            </a:r>
            <a:endParaRPr lang="en-US" sz="850" dirty="0"/>
          </a:p>
        </p:txBody>
      </p:sp>
      <p:sp>
        <p:nvSpPr>
          <p:cNvPr id="7" name="Text 5"/>
          <p:cNvSpPr/>
          <p:nvPr/>
        </p:nvSpPr>
        <p:spPr>
          <a:xfrm>
            <a:off x="411480" y="1188720"/>
            <a:ext cx="4572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endParaRPr lang="en-US" sz="2200" dirty="0"/>
          </a:p>
        </p:txBody>
      </p:sp>
      <p:sp>
        <p:nvSpPr>
          <p:cNvPr id="8" name="Text 6"/>
          <p:cNvSpPr/>
          <p:nvPr/>
        </p:nvSpPr>
        <p:spPr>
          <a:xfrm>
            <a:off x="374904" y="1719072"/>
            <a:ext cx="2651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2D2D2D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Multi-Turn Context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374904" y="2011680"/>
            <a:ext cx="2651760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B7B6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Pass conversation history array with each API call so follow-up questions reference prior context</a:t>
            </a:r>
            <a:endParaRPr lang="en-US" sz="900" dirty="0"/>
          </a:p>
        </p:txBody>
      </p:sp>
      <p:sp>
        <p:nvSpPr>
          <p:cNvPr id="10" name="Shape 8"/>
          <p:cNvSpPr/>
          <p:nvPr/>
        </p:nvSpPr>
        <p:spPr>
          <a:xfrm>
            <a:off x="3246120" y="822960"/>
            <a:ext cx="2788920" cy="1847088"/>
          </a:xfrm>
          <a:prstGeom prst="rect">
            <a:avLst/>
          </a:prstGeom>
          <a:solidFill>
            <a:srgbClr val="F0EDE8"/>
          </a:solidFill>
          <a:ln w="12700">
            <a:solidFill>
              <a:srgbClr val="B87333">
                <a:alpha val="40000"/>
              </a:srgbClr>
            </a:solidFill>
            <a:prstDash val="solid"/>
          </a:ln>
          <a:effectLst>
            <a:outerShdw blurRad="101600" dist="38100" dir="8100000" algn="bl" rotWithShape="0">
              <a:srgbClr val="000000">
                <a:alpha val="25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3246120" y="822960"/>
            <a:ext cx="2788920" cy="292608"/>
          </a:xfrm>
          <a:prstGeom prst="rect">
            <a:avLst/>
          </a:prstGeom>
          <a:solidFill>
            <a:srgbClr val="B87333">
              <a:alpha val="89804"/>
            </a:srgbClr>
          </a:solidFill>
          <a:ln w="12700">
            <a:solidFill>
              <a:srgbClr val="B87333"/>
            </a:solidFill>
            <a:prstDash val="solid"/>
          </a:ln>
        </p:spPr>
        <p:txBody>
          <a:bodyPr/>
          <a:lstStyle/>
          <a:p>
            <a:endParaRPr lang="en-IN">
              <a:solidFill>
                <a:srgbClr val="FFFFFF"/>
              </a:solidFill>
            </a:endParaRPr>
          </a:p>
        </p:txBody>
      </p:sp>
      <p:sp>
        <p:nvSpPr>
          <p:cNvPr id="12" name="Text 10"/>
          <p:cNvSpPr/>
          <p:nvPr/>
        </p:nvSpPr>
        <p:spPr>
          <a:xfrm>
            <a:off x="3300984" y="822960"/>
            <a:ext cx="20116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b="1" dirty="0">
                <a:solidFill>
                  <a:srgbClr val="2D2D2D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LOW EFFORT</a:t>
            </a:r>
            <a:endParaRPr lang="en-US" sz="850" dirty="0"/>
          </a:p>
        </p:txBody>
      </p:sp>
      <p:sp>
        <p:nvSpPr>
          <p:cNvPr id="13" name="Text 11"/>
          <p:cNvSpPr/>
          <p:nvPr/>
        </p:nvSpPr>
        <p:spPr>
          <a:xfrm>
            <a:off x="3337560" y="1188720"/>
            <a:ext cx="4572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endParaRPr lang="en-US" sz="2200" dirty="0"/>
          </a:p>
        </p:txBody>
      </p:sp>
      <p:sp>
        <p:nvSpPr>
          <p:cNvPr id="14" name="Text 12"/>
          <p:cNvSpPr/>
          <p:nvPr/>
        </p:nvSpPr>
        <p:spPr>
          <a:xfrm>
            <a:off x="3300984" y="1719072"/>
            <a:ext cx="2651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2D2D2D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JSON Knowledge Base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3300984" y="2011680"/>
            <a:ext cx="2651760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B7B6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Move FINANCE_KB to finance_kb.json loaded at startup — allows editing without touching Python code</a:t>
            </a:r>
            <a:endParaRPr lang="en-US" sz="900" dirty="0"/>
          </a:p>
        </p:txBody>
      </p:sp>
      <p:sp>
        <p:nvSpPr>
          <p:cNvPr id="16" name="Shape 14"/>
          <p:cNvSpPr/>
          <p:nvPr/>
        </p:nvSpPr>
        <p:spPr>
          <a:xfrm>
            <a:off x="6172200" y="822960"/>
            <a:ext cx="2788920" cy="1847088"/>
          </a:xfrm>
          <a:prstGeom prst="rect">
            <a:avLst/>
          </a:prstGeom>
          <a:solidFill>
            <a:srgbClr val="F0EDE8"/>
          </a:solidFill>
          <a:ln w="12700">
            <a:solidFill>
              <a:srgbClr val="F59E0B">
                <a:alpha val="40000"/>
              </a:srgbClr>
            </a:solidFill>
            <a:prstDash val="solid"/>
          </a:ln>
          <a:effectLst>
            <a:outerShdw blurRad="101600" dist="38100" dir="8100000" algn="bl" rotWithShape="0">
              <a:srgbClr val="000000">
                <a:alpha val="25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6172200" y="822960"/>
            <a:ext cx="2788920" cy="292608"/>
          </a:xfrm>
          <a:prstGeom prst="rect">
            <a:avLst/>
          </a:prstGeom>
          <a:solidFill>
            <a:srgbClr val="F59E0B">
              <a:alpha val="90000"/>
            </a:srgbClr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6227064" y="822960"/>
            <a:ext cx="20116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b="1" dirty="0">
                <a:solidFill>
                  <a:srgbClr val="2D2D2D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LOW EFFORT</a:t>
            </a:r>
            <a:endParaRPr lang="en-US" sz="850" dirty="0"/>
          </a:p>
        </p:txBody>
      </p:sp>
      <p:sp>
        <p:nvSpPr>
          <p:cNvPr id="19" name="Text 17"/>
          <p:cNvSpPr/>
          <p:nvPr/>
        </p:nvSpPr>
        <p:spPr>
          <a:xfrm>
            <a:off x="6263640" y="1188720"/>
            <a:ext cx="4572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endParaRPr lang="en-US" sz="2200" dirty="0"/>
          </a:p>
        </p:txBody>
      </p:sp>
      <p:sp>
        <p:nvSpPr>
          <p:cNvPr id="20" name="Text 18"/>
          <p:cNvSpPr/>
          <p:nvPr/>
        </p:nvSpPr>
        <p:spPr>
          <a:xfrm>
            <a:off x="6227064" y="1719072"/>
            <a:ext cx="2651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2D2D2D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Voice Input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6227064" y="2011680"/>
            <a:ext cx="2651760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B7B6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Use browser Web Speech API to accept spoken queries — passes text to existing getResponse() unchanged</a:t>
            </a:r>
            <a:endParaRPr lang="en-US" sz="900" dirty="0"/>
          </a:p>
        </p:txBody>
      </p:sp>
      <p:sp>
        <p:nvSpPr>
          <p:cNvPr id="22" name="Shape 20"/>
          <p:cNvSpPr/>
          <p:nvPr/>
        </p:nvSpPr>
        <p:spPr>
          <a:xfrm>
            <a:off x="320040" y="2834640"/>
            <a:ext cx="2788920" cy="1847088"/>
          </a:xfrm>
          <a:prstGeom prst="rect">
            <a:avLst/>
          </a:prstGeom>
          <a:solidFill>
            <a:srgbClr val="F0EDE8"/>
          </a:solidFill>
          <a:ln w="12700">
            <a:solidFill>
              <a:srgbClr val="F59E0B">
                <a:alpha val="40000"/>
              </a:srgbClr>
            </a:solidFill>
            <a:prstDash val="solid"/>
          </a:ln>
          <a:effectLst>
            <a:outerShdw blurRad="101600" dist="38100" dir="8100000" algn="bl" rotWithShape="0">
              <a:srgbClr val="000000">
                <a:alpha val="25000"/>
              </a:srgbClr>
            </a:outerShdw>
          </a:effectLst>
        </p:spPr>
      </p:sp>
      <p:sp>
        <p:nvSpPr>
          <p:cNvPr id="23" name="Shape 21"/>
          <p:cNvSpPr/>
          <p:nvPr/>
        </p:nvSpPr>
        <p:spPr>
          <a:xfrm>
            <a:off x="320040" y="2834640"/>
            <a:ext cx="2788920" cy="292608"/>
          </a:xfrm>
          <a:prstGeom prst="rect">
            <a:avLst/>
          </a:prstGeom>
          <a:solidFill>
            <a:srgbClr val="F59E0B">
              <a:alpha val="90000"/>
            </a:srgbClr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374904" y="2834640"/>
            <a:ext cx="20116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b="1" dirty="0">
                <a:solidFill>
                  <a:srgbClr val="2D2D2D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MEDIUM EFFORT</a:t>
            </a:r>
            <a:endParaRPr lang="en-US" sz="850" dirty="0"/>
          </a:p>
        </p:txBody>
      </p:sp>
      <p:sp>
        <p:nvSpPr>
          <p:cNvPr id="25" name="Text 23"/>
          <p:cNvSpPr/>
          <p:nvPr/>
        </p:nvSpPr>
        <p:spPr>
          <a:xfrm>
            <a:off x="411480" y="3200400"/>
            <a:ext cx="4572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endParaRPr lang="en-US" sz="2200" dirty="0"/>
          </a:p>
        </p:txBody>
      </p:sp>
      <p:sp>
        <p:nvSpPr>
          <p:cNvPr id="26" name="Text 24"/>
          <p:cNvSpPr/>
          <p:nvPr/>
        </p:nvSpPr>
        <p:spPr>
          <a:xfrm>
            <a:off x="374904" y="3730752"/>
            <a:ext cx="2651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2D2D2D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Regional Languages</a:t>
            </a:r>
            <a:endParaRPr lang="en-US" sz="1100" dirty="0"/>
          </a:p>
        </p:txBody>
      </p:sp>
      <p:sp>
        <p:nvSpPr>
          <p:cNvPr id="27" name="Text 25"/>
          <p:cNvSpPr/>
          <p:nvPr/>
        </p:nvSpPr>
        <p:spPr>
          <a:xfrm>
            <a:off x="374904" y="4023360"/>
            <a:ext cx="2651760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B7B6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Add Hindi, Malayalam, Tamil keyword variants to existing keyword lists — no algorithm changes needed</a:t>
            </a:r>
            <a:endParaRPr lang="en-US" sz="900" dirty="0"/>
          </a:p>
        </p:txBody>
      </p:sp>
      <p:sp>
        <p:nvSpPr>
          <p:cNvPr id="28" name="Shape 26"/>
          <p:cNvSpPr/>
          <p:nvPr/>
        </p:nvSpPr>
        <p:spPr>
          <a:xfrm>
            <a:off x="3246120" y="2834640"/>
            <a:ext cx="2788920" cy="1847088"/>
          </a:xfrm>
          <a:prstGeom prst="rect">
            <a:avLst/>
          </a:prstGeom>
          <a:solidFill>
            <a:srgbClr val="F0EDE8"/>
          </a:solidFill>
          <a:ln w="12700">
            <a:solidFill>
              <a:srgbClr val="A855F7">
                <a:alpha val="40000"/>
              </a:srgbClr>
            </a:solidFill>
            <a:prstDash val="solid"/>
          </a:ln>
          <a:effectLst>
            <a:outerShdw blurRad="101600" dist="38100" dir="8100000" algn="bl" rotWithShape="0">
              <a:srgbClr val="000000">
                <a:alpha val="25000"/>
              </a:srgbClr>
            </a:outerShdw>
          </a:effectLst>
        </p:spPr>
      </p:sp>
      <p:sp>
        <p:nvSpPr>
          <p:cNvPr id="29" name="Shape 27"/>
          <p:cNvSpPr/>
          <p:nvPr/>
        </p:nvSpPr>
        <p:spPr>
          <a:xfrm>
            <a:off x="3246120" y="2834640"/>
            <a:ext cx="2788920" cy="292608"/>
          </a:xfrm>
          <a:prstGeom prst="rect">
            <a:avLst/>
          </a:prstGeom>
          <a:solidFill>
            <a:srgbClr val="A855F7">
              <a:alpha val="90000"/>
            </a:srgbClr>
          </a:solidFill>
          <a:ln w="12700">
            <a:solidFill>
              <a:srgbClr val="A855F7"/>
            </a:solidFill>
            <a:prstDash val="solid"/>
          </a:ln>
        </p:spPr>
        <p:txBody>
          <a:bodyPr/>
          <a:lstStyle/>
          <a:p>
            <a:endParaRPr lang="en-IN">
              <a:solidFill>
                <a:srgbClr val="FFFFFF"/>
              </a:solidFill>
            </a:endParaRPr>
          </a:p>
        </p:txBody>
      </p:sp>
      <p:sp>
        <p:nvSpPr>
          <p:cNvPr id="30" name="Text 28"/>
          <p:cNvSpPr/>
          <p:nvPr/>
        </p:nvSpPr>
        <p:spPr>
          <a:xfrm>
            <a:off x="3300984" y="2834640"/>
            <a:ext cx="20116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b="1" dirty="0">
                <a:solidFill>
                  <a:srgbClr val="2D2D2D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MEDIUM EFFORT</a:t>
            </a:r>
            <a:endParaRPr lang="en-US" sz="850" dirty="0"/>
          </a:p>
        </p:txBody>
      </p:sp>
      <p:sp>
        <p:nvSpPr>
          <p:cNvPr id="31" name="Text 29"/>
          <p:cNvSpPr/>
          <p:nvPr/>
        </p:nvSpPr>
        <p:spPr>
          <a:xfrm>
            <a:off x="3337560" y="3200400"/>
            <a:ext cx="4572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endParaRPr lang="en-US" sz="2200" dirty="0"/>
          </a:p>
        </p:txBody>
      </p:sp>
      <p:sp>
        <p:nvSpPr>
          <p:cNvPr id="32" name="Text 30"/>
          <p:cNvSpPr/>
          <p:nvPr/>
        </p:nvSpPr>
        <p:spPr>
          <a:xfrm>
            <a:off x="3300984" y="3730752"/>
            <a:ext cx="2651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2D2D2D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EMI &amp; SIP Calculator</a:t>
            </a:r>
            <a:endParaRPr lang="en-US" sz="1100" dirty="0"/>
          </a:p>
        </p:txBody>
      </p:sp>
      <p:sp>
        <p:nvSpPr>
          <p:cNvPr id="33" name="Text 31"/>
          <p:cNvSpPr/>
          <p:nvPr/>
        </p:nvSpPr>
        <p:spPr>
          <a:xfrm>
            <a:off x="3300984" y="4023360"/>
            <a:ext cx="2651760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B7B6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Interactive widget inside chat for loan and investment topics — compute EMI and SIP returns live</a:t>
            </a:r>
            <a:endParaRPr lang="en-US" sz="900" dirty="0"/>
          </a:p>
        </p:txBody>
      </p:sp>
      <p:sp>
        <p:nvSpPr>
          <p:cNvPr id="34" name="Shape 32"/>
          <p:cNvSpPr/>
          <p:nvPr/>
        </p:nvSpPr>
        <p:spPr>
          <a:xfrm>
            <a:off x="6172200" y="2834640"/>
            <a:ext cx="2788920" cy="1847088"/>
          </a:xfrm>
          <a:prstGeom prst="rect">
            <a:avLst/>
          </a:prstGeom>
          <a:solidFill>
            <a:srgbClr val="F0EDE8"/>
          </a:solidFill>
          <a:ln w="12700">
            <a:solidFill>
              <a:srgbClr val="A855F7">
                <a:alpha val="40000"/>
              </a:srgbClr>
            </a:solidFill>
            <a:prstDash val="solid"/>
          </a:ln>
          <a:effectLst>
            <a:outerShdw blurRad="101600" dist="38100" dir="8100000" algn="bl" rotWithShape="0">
              <a:srgbClr val="000000">
                <a:alpha val="25000"/>
              </a:srgbClr>
            </a:outerShdw>
          </a:effectLst>
        </p:spPr>
      </p:sp>
      <p:sp>
        <p:nvSpPr>
          <p:cNvPr id="35" name="Shape 33"/>
          <p:cNvSpPr/>
          <p:nvPr/>
        </p:nvSpPr>
        <p:spPr>
          <a:xfrm>
            <a:off x="6172200" y="2834640"/>
            <a:ext cx="2788920" cy="292608"/>
          </a:xfrm>
          <a:prstGeom prst="rect">
            <a:avLst/>
          </a:prstGeom>
          <a:solidFill>
            <a:srgbClr val="A855F7">
              <a:alpha val="90000"/>
            </a:srgbClr>
          </a:solidFill>
          <a:ln w="12700">
            <a:solidFill>
              <a:srgbClr val="A855F7"/>
            </a:solidFill>
            <a:prstDash val="solid"/>
          </a:ln>
        </p:spPr>
        <p:txBody>
          <a:bodyPr/>
          <a:lstStyle/>
          <a:p>
            <a:endParaRPr lang="en-IN">
              <a:solidFill>
                <a:srgbClr val="FFFFFF"/>
              </a:solidFill>
            </a:endParaRPr>
          </a:p>
        </p:txBody>
      </p:sp>
      <p:sp>
        <p:nvSpPr>
          <p:cNvPr id="36" name="Text 34"/>
          <p:cNvSpPr/>
          <p:nvPr/>
        </p:nvSpPr>
        <p:spPr>
          <a:xfrm>
            <a:off x="6227064" y="2834640"/>
            <a:ext cx="20116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b="1" dirty="0">
                <a:solidFill>
                  <a:srgbClr val="2D2D2D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MEDIUM EFFORT</a:t>
            </a:r>
            <a:endParaRPr lang="en-US" sz="850" dirty="0"/>
          </a:p>
        </p:txBody>
      </p:sp>
      <p:sp>
        <p:nvSpPr>
          <p:cNvPr id="37" name="Text 35"/>
          <p:cNvSpPr/>
          <p:nvPr/>
        </p:nvSpPr>
        <p:spPr>
          <a:xfrm>
            <a:off x="6263640" y="3200400"/>
            <a:ext cx="4572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endParaRPr lang="en-US" sz="2200" dirty="0"/>
          </a:p>
        </p:txBody>
      </p:sp>
      <p:sp>
        <p:nvSpPr>
          <p:cNvPr id="38" name="Text 36"/>
          <p:cNvSpPr/>
          <p:nvPr/>
        </p:nvSpPr>
        <p:spPr>
          <a:xfrm>
            <a:off x="6227064" y="3730752"/>
            <a:ext cx="2651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2D2D2D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Cloud Deployment</a:t>
            </a:r>
            <a:endParaRPr lang="en-US" sz="1100" dirty="0"/>
          </a:p>
        </p:txBody>
      </p:sp>
      <p:sp>
        <p:nvSpPr>
          <p:cNvPr id="39" name="Text 37"/>
          <p:cNvSpPr/>
          <p:nvPr/>
        </p:nvSpPr>
        <p:spPr>
          <a:xfrm>
            <a:off x="6227064" y="4023360"/>
            <a:ext cx="2651760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B7B6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Deploy stateless Flask API on Render or Railway free tier — public URL shareable with anyone instantly</a:t>
            </a:r>
            <a:endParaRPr lang="en-US" sz="900" dirty="0"/>
          </a:p>
        </p:txBody>
      </p:sp>
    </p:spTree>
    <p:extLst>
      <p:ext uri="{BB962C8B-B14F-4D97-AF65-F5344CB8AC3E}">
        <p14:creationId xmlns:p14="http://schemas.microsoft.com/office/powerpoint/2010/main" val="1681943523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AF8F5">
            <a:alpha val="100000"/>
          </a:srgb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463040"/>
          </a:xfrm>
          <a:prstGeom prst="rect">
            <a:avLst/>
          </a:prstGeom>
          <a:solidFill>
            <a:srgbClr val="B87333"/>
          </a:solidFill>
          <a:ln w="12700">
            <a:solidFill>
              <a:srgbClr val="B87333"/>
            </a:solidFill>
            <a:prstDash val="solid"/>
          </a:ln>
        </p:spPr>
        <p:txBody>
          <a:bodyPr/>
          <a:lstStyle/>
          <a:p>
            <a:endParaRPr lang="en-IN">
              <a:solidFill>
                <a:srgbClr val="FFFFFF"/>
              </a:solidFill>
            </a:endParaRPr>
          </a:p>
        </p:txBody>
      </p:sp>
      <p:sp>
        <p:nvSpPr>
          <p:cNvPr id="3" name="Shape 1"/>
          <p:cNvSpPr/>
          <p:nvPr/>
        </p:nvSpPr>
        <p:spPr>
          <a:xfrm>
            <a:off x="7498080" y="-914400"/>
            <a:ext cx="3200400" cy="3200400"/>
          </a:xfrm>
          <a:prstGeom prst="ellipse">
            <a:avLst/>
          </a:prstGeom>
          <a:solidFill>
            <a:srgbClr val="2D2D2D">
              <a:alpha val="6000"/>
            </a:srgbClr>
          </a:solidFill>
          <a:ln w="12700">
            <a:solidFill>
              <a:srgbClr val="2D2D2D">
                <a:alpha val="12000"/>
              </a:srgbClr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4" name="Shape 2"/>
          <p:cNvSpPr/>
          <p:nvPr/>
        </p:nvSpPr>
        <p:spPr>
          <a:xfrm>
            <a:off x="8046720" y="-365760"/>
            <a:ext cx="2011680" cy="2011680"/>
          </a:xfrm>
          <a:prstGeom prst="ellipse">
            <a:avLst/>
          </a:prstGeom>
          <a:solidFill>
            <a:srgbClr val="2D2D2D">
              <a:alpha val="10000"/>
            </a:srgbClr>
          </a:solidFill>
          <a:ln w="12700">
            <a:solidFill>
              <a:srgbClr val="2D2D2D">
                <a:alpha val="15000"/>
              </a:srgbClr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5" name="Text 3"/>
          <p:cNvSpPr/>
          <p:nvPr/>
        </p:nvSpPr>
        <p:spPr>
          <a:xfrm>
            <a:off x="320040" y="128016"/>
            <a:ext cx="82296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endParaRPr lang="en-US" sz="3800" dirty="0"/>
          </a:p>
        </p:txBody>
      </p:sp>
      <p:sp>
        <p:nvSpPr>
          <p:cNvPr id="6" name="Text 4"/>
          <p:cNvSpPr/>
          <p:nvPr/>
        </p:nvSpPr>
        <p:spPr>
          <a:xfrm>
            <a:off x="1188720" y="128016"/>
            <a:ext cx="45720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800" b="1" dirty="0">
                <a:solidFill>
                  <a:srgbClr val="2D2D2D"/>
                </a:solidFill>
                <a:latin typeface="Georgia" pitchFamily="34" charset="0"/>
                <a:ea typeface="Segoe UI" pitchFamily="34" charset="-122"/>
                <a:cs typeface="Segoe UI" pitchFamily="34" charset="-120"/>
              </a:rPr>
              <a:t>FinBot</a:t>
            </a:r>
            <a:endParaRPr lang="en-US" sz="3800" dirty="0"/>
          </a:p>
        </p:txBody>
      </p:sp>
      <p:sp>
        <p:nvSpPr>
          <p:cNvPr id="7" name="Text 5"/>
          <p:cNvSpPr/>
          <p:nvPr/>
        </p:nvSpPr>
        <p:spPr>
          <a:xfrm>
            <a:off x="1188720" y="804672"/>
            <a:ext cx="68580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0B1437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Natural Language Interface for Finance Infrastructure — IBM ICE Project 2026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320040" y="1627632"/>
            <a:ext cx="2788920" cy="859536"/>
          </a:xfrm>
          <a:prstGeom prst="rect">
            <a:avLst/>
          </a:prstGeom>
          <a:solidFill>
            <a:srgbClr val="F0EDE8"/>
          </a:solidFill>
          <a:ln w="12700">
            <a:solidFill>
              <a:srgbClr val="B87333">
                <a:alpha val="40000"/>
              </a:srgbClr>
            </a:solidFill>
            <a:prstDash val="solid"/>
          </a:ln>
          <a:effectLst>
            <a:outerShdw blurRad="101600" dist="38100" dir="8100000" algn="bl" rotWithShape="0">
              <a:srgbClr val="000000">
                <a:alpha val="25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9" name="Text 7"/>
          <p:cNvSpPr/>
          <p:nvPr/>
        </p:nvSpPr>
        <p:spPr>
          <a:xfrm>
            <a:off x="411480" y="1719072"/>
            <a:ext cx="384048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endParaRPr lang="en-US" sz="2000" dirty="0"/>
          </a:p>
        </p:txBody>
      </p:sp>
      <p:sp>
        <p:nvSpPr>
          <p:cNvPr id="10" name="Text 8"/>
          <p:cNvSpPr/>
          <p:nvPr/>
        </p:nvSpPr>
        <p:spPr>
          <a:xfrm>
            <a:off x="832104" y="1719072"/>
            <a:ext cx="2194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2D2D2D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100% topic accuracy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832104" y="2029968"/>
            <a:ext cx="21945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6B7B6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All 39 unit tests passed</a:t>
            </a:r>
            <a:endParaRPr lang="en-US" sz="950" dirty="0"/>
          </a:p>
        </p:txBody>
      </p:sp>
      <p:sp>
        <p:nvSpPr>
          <p:cNvPr id="12" name="Shape 10"/>
          <p:cNvSpPr/>
          <p:nvPr/>
        </p:nvSpPr>
        <p:spPr>
          <a:xfrm>
            <a:off x="3246120" y="1627632"/>
            <a:ext cx="2788920" cy="859536"/>
          </a:xfrm>
          <a:prstGeom prst="rect">
            <a:avLst/>
          </a:prstGeom>
          <a:solidFill>
            <a:srgbClr val="F0EDE8"/>
          </a:solidFill>
          <a:ln w="12700">
            <a:solidFill>
              <a:srgbClr val="B87333">
                <a:alpha val="40000"/>
              </a:srgbClr>
            </a:solidFill>
            <a:prstDash val="solid"/>
          </a:ln>
          <a:effectLst>
            <a:outerShdw blurRad="101600" dist="38100" dir="8100000" algn="bl" rotWithShape="0">
              <a:srgbClr val="000000">
                <a:alpha val="25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13" name="Text 11"/>
          <p:cNvSpPr/>
          <p:nvPr/>
        </p:nvSpPr>
        <p:spPr>
          <a:xfrm>
            <a:off x="3337560" y="1719072"/>
            <a:ext cx="384048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endParaRPr lang="en-US" sz="2000" dirty="0"/>
          </a:p>
        </p:txBody>
      </p:sp>
      <p:sp>
        <p:nvSpPr>
          <p:cNvPr id="14" name="Text 12"/>
          <p:cNvSpPr/>
          <p:nvPr/>
        </p:nvSpPr>
        <p:spPr>
          <a:xfrm>
            <a:off x="3758184" y="1719072"/>
            <a:ext cx="2194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2D2D2D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&lt; 10ms response time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3758184" y="2029968"/>
            <a:ext cx="21945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6B7B6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Pure in-memory Python</a:t>
            </a:r>
            <a:endParaRPr lang="en-US" sz="950" dirty="0"/>
          </a:p>
        </p:txBody>
      </p:sp>
      <p:sp>
        <p:nvSpPr>
          <p:cNvPr id="16" name="Shape 14"/>
          <p:cNvSpPr/>
          <p:nvPr/>
        </p:nvSpPr>
        <p:spPr>
          <a:xfrm>
            <a:off x="6172200" y="1627632"/>
            <a:ext cx="2788920" cy="859536"/>
          </a:xfrm>
          <a:prstGeom prst="rect">
            <a:avLst/>
          </a:prstGeom>
          <a:solidFill>
            <a:srgbClr val="F0EDE8"/>
          </a:solidFill>
          <a:ln w="12700">
            <a:solidFill>
              <a:srgbClr val="B87333">
                <a:alpha val="40000"/>
              </a:srgbClr>
            </a:solidFill>
            <a:prstDash val="solid"/>
          </a:ln>
          <a:effectLst>
            <a:outerShdw blurRad="101600" dist="38100" dir="8100000" algn="bl" rotWithShape="0">
              <a:srgbClr val="000000">
                <a:alpha val="25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17" name="Text 15"/>
          <p:cNvSpPr/>
          <p:nvPr/>
        </p:nvSpPr>
        <p:spPr>
          <a:xfrm>
            <a:off x="6263640" y="1719072"/>
            <a:ext cx="384048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endParaRPr lang="en-US" sz="2000" dirty="0"/>
          </a:p>
        </p:txBody>
      </p:sp>
      <p:sp>
        <p:nvSpPr>
          <p:cNvPr id="18" name="Text 16"/>
          <p:cNvSpPr/>
          <p:nvPr/>
        </p:nvSpPr>
        <p:spPr>
          <a:xfrm>
            <a:off x="6684264" y="1719072"/>
            <a:ext cx="2194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2D2D2D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1 pip dependency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6684264" y="2029968"/>
            <a:ext cx="21945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6B7B6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flask==3.0.3 only</a:t>
            </a:r>
            <a:endParaRPr lang="en-US" sz="950" dirty="0"/>
          </a:p>
        </p:txBody>
      </p:sp>
      <p:sp>
        <p:nvSpPr>
          <p:cNvPr id="20" name="Shape 18"/>
          <p:cNvSpPr/>
          <p:nvPr/>
        </p:nvSpPr>
        <p:spPr>
          <a:xfrm>
            <a:off x="320040" y="2633472"/>
            <a:ext cx="2788920" cy="859536"/>
          </a:xfrm>
          <a:prstGeom prst="rect">
            <a:avLst/>
          </a:prstGeom>
          <a:solidFill>
            <a:srgbClr val="F0EDE8"/>
          </a:solidFill>
          <a:ln w="12700">
            <a:solidFill>
              <a:srgbClr val="B87333">
                <a:alpha val="40000"/>
              </a:srgbClr>
            </a:solidFill>
            <a:prstDash val="solid"/>
          </a:ln>
          <a:effectLst>
            <a:outerShdw blurRad="101600" dist="38100" dir="8100000" algn="bl" rotWithShape="0">
              <a:srgbClr val="000000">
                <a:alpha val="25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21" name="Text 19"/>
          <p:cNvSpPr/>
          <p:nvPr/>
        </p:nvSpPr>
        <p:spPr>
          <a:xfrm>
            <a:off x="411480" y="2724912"/>
            <a:ext cx="384048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endParaRPr lang="en-US" sz="2000" dirty="0"/>
          </a:p>
        </p:txBody>
      </p:sp>
      <p:sp>
        <p:nvSpPr>
          <p:cNvPr id="22" name="Text 20"/>
          <p:cNvSpPr/>
          <p:nvPr/>
        </p:nvSpPr>
        <p:spPr>
          <a:xfrm>
            <a:off x="832104" y="2724912"/>
            <a:ext cx="2194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2D2D2D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2 interface modes</a:t>
            </a:r>
            <a:endParaRPr lang="en-US" sz="1100" dirty="0"/>
          </a:p>
        </p:txBody>
      </p:sp>
      <p:sp>
        <p:nvSpPr>
          <p:cNvPr id="23" name="Text 21"/>
          <p:cNvSpPr/>
          <p:nvPr/>
        </p:nvSpPr>
        <p:spPr>
          <a:xfrm>
            <a:off x="832104" y="3035808"/>
            <a:ext cx="21945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6B7B6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Web widget + CLI</a:t>
            </a:r>
            <a:endParaRPr lang="en-US" sz="950" dirty="0"/>
          </a:p>
        </p:txBody>
      </p:sp>
      <p:sp>
        <p:nvSpPr>
          <p:cNvPr id="24" name="Shape 22"/>
          <p:cNvSpPr/>
          <p:nvPr/>
        </p:nvSpPr>
        <p:spPr>
          <a:xfrm>
            <a:off x="3246120" y="2633472"/>
            <a:ext cx="2788920" cy="859536"/>
          </a:xfrm>
          <a:prstGeom prst="rect">
            <a:avLst/>
          </a:prstGeom>
          <a:solidFill>
            <a:srgbClr val="F0EDE8"/>
          </a:solidFill>
          <a:ln w="12700">
            <a:solidFill>
              <a:srgbClr val="B87333">
                <a:alpha val="40000"/>
              </a:srgbClr>
            </a:solidFill>
            <a:prstDash val="solid"/>
          </a:ln>
          <a:effectLst>
            <a:outerShdw blurRad="101600" dist="38100" dir="8100000" algn="bl" rotWithShape="0">
              <a:srgbClr val="000000">
                <a:alpha val="25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25" name="Text 23"/>
          <p:cNvSpPr/>
          <p:nvPr/>
        </p:nvSpPr>
        <p:spPr>
          <a:xfrm>
            <a:off x="3337560" y="2724912"/>
            <a:ext cx="384048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endParaRPr lang="en-US" sz="2000" dirty="0"/>
          </a:p>
        </p:txBody>
      </p:sp>
      <p:sp>
        <p:nvSpPr>
          <p:cNvPr id="26" name="Text 24"/>
          <p:cNvSpPr/>
          <p:nvPr/>
        </p:nvSpPr>
        <p:spPr>
          <a:xfrm>
            <a:off x="3758184" y="2724912"/>
            <a:ext cx="2194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2D2D2D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10 finance topics</a:t>
            </a:r>
            <a:endParaRPr lang="en-US" sz="1100" dirty="0"/>
          </a:p>
        </p:txBody>
      </p:sp>
      <p:sp>
        <p:nvSpPr>
          <p:cNvPr id="27" name="Text 25"/>
          <p:cNvSpPr/>
          <p:nvPr/>
        </p:nvSpPr>
        <p:spPr>
          <a:xfrm>
            <a:off x="3758184" y="3035808"/>
            <a:ext cx="21945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6B7B6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India-specific content</a:t>
            </a:r>
            <a:endParaRPr lang="en-US" sz="950" dirty="0"/>
          </a:p>
        </p:txBody>
      </p:sp>
      <p:sp>
        <p:nvSpPr>
          <p:cNvPr id="28" name="Shape 26"/>
          <p:cNvSpPr/>
          <p:nvPr/>
        </p:nvSpPr>
        <p:spPr>
          <a:xfrm>
            <a:off x="6172200" y="2633472"/>
            <a:ext cx="2788920" cy="859536"/>
          </a:xfrm>
          <a:prstGeom prst="rect">
            <a:avLst/>
          </a:prstGeom>
          <a:solidFill>
            <a:srgbClr val="F0EDE8"/>
          </a:solidFill>
          <a:ln w="12700">
            <a:solidFill>
              <a:srgbClr val="B87333">
                <a:alpha val="40000"/>
              </a:srgbClr>
            </a:solidFill>
            <a:prstDash val="solid"/>
          </a:ln>
          <a:effectLst>
            <a:outerShdw blurRad="101600" dist="38100" dir="8100000" algn="bl" rotWithShape="0">
              <a:srgbClr val="000000">
                <a:alpha val="25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29" name="Text 27"/>
          <p:cNvSpPr/>
          <p:nvPr/>
        </p:nvSpPr>
        <p:spPr>
          <a:xfrm>
            <a:off x="6263640" y="2724912"/>
            <a:ext cx="384048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endParaRPr lang="en-US" sz="2000" dirty="0"/>
          </a:p>
        </p:txBody>
      </p:sp>
      <p:sp>
        <p:nvSpPr>
          <p:cNvPr id="30" name="Text 28"/>
          <p:cNvSpPr/>
          <p:nvPr/>
        </p:nvSpPr>
        <p:spPr>
          <a:xfrm>
            <a:off x="6684264" y="2724912"/>
            <a:ext cx="2194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2D2D2D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Complete documentation</a:t>
            </a:r>
            <a:endParaRPr lang="en-US" sz="1100" dirty="0"/>
          </a:p>
        </p:txBody>
      </p:sp>
      <p:sp>
        <p:nvSpPr>
          <p:cNvPr id="31" name="Text 29"/>
          <p:cNvSpPr/>
          <p:nvPr/>
        </p:nvSpPr>
        <p:spPr>
          <a:xfrm>
            <a:off x="6684264" y="3035808"/>
            <a:ext cx="21945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6B7B6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Proposal · HLD · LLD · Report</a:t>
            </a:r>
            <a:endParaRPr lang="en-US" sz="950" dirty="0"/>
          </a:p>
        </p:txBody>
      </p:sp>
      <p:sp>
        <p:nvSpPr>
          <p:cNvPr id="32" name="Shape 30"/>
          <p:cNvSpPr/>
          <p:nvPr/>
        </p:nvSpPr>
        <p:spPr>
          <a:xfrm>
            <a:off x="0" y="4626864"/>
            <a:ext cx="9144000" cy="512064"/>
          </a:xfrm>
          <a:prstGeom prst="rect">
            <a:avLst/>
          </a:prstGeom>
          <a:solidFill>
            <a:srgbClr val="B87333"/>
          </a:solidFill>
          <a:ln w="12700">
            <a:solidFill>
              <a:srgbClr val="B87333"/>
            </a:solidFill>
            <a:prstDash val="solid"/>
          </a:ln>
        </p:spPr>
        <p:txBody>
          <a:bodyPr/>
          <a:lstStyle/>
          <a:p>
            <a:endParaRPr lang="en-IN">
              <a:solidFill>
                <a:srgbClr val="FFFFFF"/>
              </a:solidFill>
            </a:endParaRPr>
          </a:p>
        </p:txBody>
      </p:sp>
      <p:sp>
        <p:nvSpPr>
          <p:cNvPr id="33" name="Text 31"/>
          <p:cNvSpPr/>
          <p:nvPr/>
        </p:nvSpPr>
        <p:spPr>
          <a:xfrm>
            <a:off x="274320" y="4626864"/>
            <a:ext cx="859536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2D2D2D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Fathima Rahda V  ·  BCA (AI, Cloud &amp; DevOps)  ·  Guided by Mr. Praveen  ·  </a:t>
            </a:r>
            <a:r>
              <a:rPr lang="en-US" sz="1000" b="1" dirty="0">
                <a:solidFill>
                  <a:srgbClr val="0B1437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github.com/rahda599/fin-bot</a:t>
            </a:r>
            <a:endParaRPr lang="en-US" sz="1000" dirty="0"/>
          </a:p>
        </p:txBody>
      </p:sp>
    </p:spTree>
    <p:extLst>
      <p:ext uri="{BB962C8B-B14F-4D97-AF65-F5344CB8AC3E}">
        <p14:creationId xmlns:p14="http://schemas.microsoft.com/office/powerpoint/2010/main" val="2125027967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 [1777445393690]">
  <a:themeElements>
    <a:clrScheme name="Warm Editorial">
      <a:dk1>
        <a:srgbClr val="2D2D2D"/>
      </a:dk1>
      <a:lt1>
        <a:srgbClr val="FAF8F5"/>
      </a:lt1>
      <a:dk2>
        <a:srgbClr val="4A4A4A"/>
      </a:dk2>
      <a:lt2>
        <a:srgbClr val="F0EDE8"/>
      </a:lt2>
      <a:accent1>
        <a:srgbClr val="B87333"/>
      </a:accent1>
      <a:accent2>
        <a:srgbClr val="8B6914"/>
      </a:accent2>
      <a:accent3>
        <a:srgbClr val="6B7B6E"/>
      </a:accent3>
      <a:accent4>
        <a:srgbClr val="9B7EA1"/>
      </a:accent4>
      <a:accent5>
        <a:srgbClr val="5C6B7A"/>
      </a:accent5>
      <a:accent6>
        <a:srgbClr val="C4A882"/>
      </a:accent6>
      <a:hlink>
        <a:srgbClr val="0563C1"/>
      </a:hlink>
      <a:folHlink>
        <a:srgbClr val="954F72"/>
      </a:folHlink>
    </a:clrScheme>
    <a:fontScheme name="Warm Editorial">
      <a:majorFont>
        <a:latin typeface="Georgia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Segoe U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webextensions/_rels/taskpanes.xml.rels><?xml version="1.0" encoding="UTF-8" standalone="yes"?>
<Relationships xmlns="http://schemas.openxmlformats.org/package/2006/relationships"><Relationship Id="rId1" Type="http://schemas.microsoft.com/office/2011/relationships/webextension" Target="webextension1.xml"/></Relationships>
</file>

<file path=ppt/webextensions/taskpanes.xml><?xml version="1.0" encoding="utf-8"?>
<wetp:taskpanes xmlns:wetp="http://schemas.microsoft.com/office/webextensions/taskpanes/2010/11">
  <wetp:taskpane dockstate="right" visibility="0" width="539" row="0">
    <wetp:webextensionref xmlns:r="http://schemas.openxmlformats.org/officeDocument/2006/relationships" r:id="rId1"/>
  </wetp:taskpane>
</wetp:taskpanes>
</file>

<file path=ppt/webextensions/webextension1.xml><?xml version="1.0" encoding="utf-8"?>
<we:webextension xmlns:we="http://schemas.microsoft.com/office/webextensions/webextension/2010/11" id="{4A9FEC93-BC8B-415E-8879-18B984D12BD9}">
  <we:reference id="wa200010001" version="1.0.0.1" store="en-US" storeType="OMEX"/>
  <we:alternateReferences>
    <we:reference id="wa200010001" version="1.0.0.1" store="en-US" storeType="OMEX"/>
  </we:alternateReferences>
  <we:properties>
    <we:property name="claude.fileId" value="&quot;5b05a5a6-3d58-4cd7-a451-3b828af5029c&quot;"/>
  </we:properties>
  <we:bindings/>
  <we:snapshot xmlns:r="http://schemas.openxmlformats.org/officeDocument/2006/relationships"/>
</we:webextension>
</file>

<file path=docProps/app.xml><?xml version="1.0" encoding="utf-8"?>
<Properties xmlns="http://schemas.openxmlformats.org/officeDocument/2006/extended-properties" xmlns:vt="http://schemas.openxmlformats.org/officeDocument/2006/docPropsVTypes">
  <TotalTime>35</TotalTime>
  <Words>1761</Words>
  <Application>Microsoft Office PowerPoint</Application>
  <PresentationFormat>On-screen Show (16:9)</PresentationFormat>
  <Paragraphs>376</Paragraphs>
  <Slides>15</Slides>
  <Notes>15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15</vt:i4>
      </vt:variant>
    </vt:vector>
  </HeadingPairs>
  <TitlesOfParts>
    <vt:vector size="20" baseType="lpstr">
      <vt:lpstr>Arial</vt:lpstr>
      <vt:lpstr>Courier New</vt:lpstr>
      <vt:lpstr>Georgia</vt:lpstr>
      <vt:lpstr>Segoe UI</vt:lpstr>
      <vt:lpstr>Office Theme [1777445393690]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FinBot — Natural Language Interface for Finance Infrastructure</dc:title>
  <dc:subject>IBM Innovation Centre for Education — Project 2026</dc:subject>
  <dc:creator>Fathima Rahda V</dc:creator>
  <cp:lastModifiedBy>keerthana kumaran</cp:lastModifiedBy>
  <cp:revision>3</cp:revision>
  <dcterms:created xsi:type="dcterms:W3CDTF">2026-04-29T06:23:31Z</dcterms:created>
  <dcterms:modified xsi:type="dcterms:W3CDTF">2026-04-29T07:07:08Z</dcterms:modified>
</cp:coreProperties>
</file>